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Montserrat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qCbSyb/JIkuYV8Ak7X2I/VGq4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MontserratMedium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19" Type="http://schemas.openxmlformats.org/officeDocument/2006/relationships/font" Target="fonts/MontserratMedium-bold.fntdata"/><Relationship Id="rId6" Type="http://schemas.openxmlformats.org/officeDocument/2006/relationships/slide" Target="slides/slide2.xml"/><Relationship Id="rId18" Type="http://schemas.openxmlformats.org/officeDocument/2006/relationships/font" Target="fonts/Montserrat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f2712b5b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bf2712b5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f2712b5b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bf2712b5b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f2712b5b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bf2712b5b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f2712b5b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bf2712b5b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2712b5b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bf2712b5b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6"/>
          <p:cNvSpPr txBox="1"/>
          <p:nvPr>
            <p:ph type="ctrTitle"/>
          </p:nvPr>
        </p:nvSpPr>
        <p:spPr>
          <a:xfrm>
            <a:off x="457200" y="1224892"/>
            <a:ext cx="4487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16"/>
          <p:cNvSpPr txBox="1"/>
          <p:nvPr>
            <p:ph idx="1" type="subTitle"/>
          </p:nvPr>
        </p:nvSpPr>
        <p:spPr>
          <a:xfrm>
            <a:off x="457200" y="3487508"/>
            <a:ext cx="448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6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74067a836c_0_13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20"/>
          <p:cNvSpPr txBox="1"/>
          <p:nvPr>
            <p:ph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" name="Google Shape;19;p20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" name="Google Shape;25;p22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" name="Google Shape;36;p25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1" name="Google Shape;41;p27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>
            <p:ph type="ctrTitle"/>
          </p:nvPr>
        </p:nvSpPr>
        <p:spPr>
          <a:xfrm>
            <a:off x="457200" y="1224892"/>
            <a:ext cx="4487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Analisis Kinerja Penjualan</a:t>
            </a:r>
            <a:endParaRPr/>
          </a:p>
        </p:txBody>
      </p:sp>
      <p:sp>
        <p:nvSpPr>
          <p:cNvPr id="47" name="Google Shape;47;p1"/>
          <p:cNvSpPr txBox="1"/>
          <p:nvPr>
            <p:ph idx="1" type="subTitle"/>
          </p:nvPr>
        </p:nvSpPr>
        <p:spPr>
          <a:xfrm>
            <a:off x="457200" y="3487508"/>
            <a:ext cx="448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By Ahsan Mubarak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grpSp>
        <p:nvGrpSpPr>
          <p:cNvPr id="48" name="Google Shape;48;p1"/>
          <p:cNvGrpSpPr/>
          <p:nvPr/>
        </p:nvGrpSpPr>
        <p:grpSpPr>
          <a:xfrm>
            <a:off x="5122396" y="1224911"/>
            <a:ext cx="2722492" cy="2693697"/>
            <a:chOff x="-1182750" y="3962900"/>
            <a:chExt cx="294575" cy="291450"/>
          </a:xfrm>
        </p:grpSpPr>
        <p:sp>
          <p:nvSpPr>
            <p:cNvPr id="49" name="Google Shape;49;p1"/>
            <p:cNvSpPr/>
            <p:nvPr/>
          </p:nvSpPr>
          <p:spPr>
            <a:xfrm>
              <a:off x="-1078000" y="40306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86825" lIns="586825" spcFirstLastPara="1" rIns="586825" wrap="square" tIns="5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86"/>
                <a:buFont typeface="Arial"/>
                <a:buNone/>
              </a:pPr>
              <a:r>
                <a:t/>
              </a:r>
              <a:endParaRPr b="0" i="0" sz="9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-1129200" y="40999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86825" lIns="586825" spcFirstLastPara="1" rIns="586825" wrap="square" tIns="5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86"/>
                <a:buFont typeface="Arial"/>
                <a:buNone/>
              </a:pPr>
              <a:r>
                <a:t/>
              </a:r>
              <a:endParaRPr b="0" i="0" sz="9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-1009475" y="4081850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86825" lIns="586825" spcFirstLastPara="1" rIns="586825" wrap="square" tIns="5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86"/>
                <a:buFont typeface="Arial"/>
                <a:buNone/>
              </a:pPr>
              <a:r>
                <a:t/>
              </a:r>
              <a:endParaRPr b="0" i="0" sz="9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-1182750" y="4168475"/>
              <a:ext cx="292225" cy="34675"/>
            </a:xfrm>
            <a:custGeom>
              <a:rect b="b" l="l" r="r" t="t"/>
              <a:pathLst>
                <a:path extrusionOk="0" h="1387" w="11689">
                  <a:moveTo>
                    <a:pt x="0" y="1"/>
                  </a:moveTo>
                  <a:lnTo>
                    <a:pt x="0" y="347"/>
                  </a:lnTo>
                  <a:lnTo>
                    <a:pt x="63" y="347"/>
                  </a:lnTo>
                  <a:cubicBezTo>
                    <a:pt x="63" y="914"/>
                    <a:pt x="504" y="1387"/>
                    <a:pt x="1071" y="1387"/>
                  </a:cubicBezTo>
                  <a:lnTo>
                    <a:pt x="10680" y="1387"/>
                  </a:lnTo>
                  <a:cubicBezTo>
                    <a:pt x="11247" y="1387"/>
                    <a:pt x="11688" y="914"/>
                    <a:pt x="11688" y="347"/>
                  </a:cubicBezTo>
                  <a:lnTo>
                    <a:pt x="116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86825" lIns="586825" spcFirstLastPara="1" rIns="586825" wrap="square" tIns="5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86"/>
                <a:buFont typeface="Arial"/>
                <a:buNone/>
              </a:pPr>
              <a:r>
                <a:t/>
              </a:r>
              <a:endParaRPr b="0" i="0" sz="9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-1117400" y="4220475"/>
              <a:ext cx="161500" cy="33875"/>
            </a:xfrm>
            <a:custGeom>
              <a:rect b="b" l="l" r="r" t="t"/>
              <a:pathLst>
                <a:path extrusionOk="0" h="1355" w="6460">
                  <a:moveTo>
                    <a:pt x="1513" y="0"/>
                  </a:moveTo>
                  <a:lnTo>
                    <a:pt x="1356" y="693"/>
                  </a:lnTo>
                  <a:lnTo>
                    <a:pt x="474" y="693"/>
                  </a:lnTo>
                  <a:cubicBezTo>
                    <a:pt x="32" y="693"/>
                    <a:pt x="1" y="1355"/>
                    <a:pt x="474" y="1355"/>
                  </a:cubicBezTo>
                  <a:lnTo>
                    <a:pt x="5924" y="1355"/>
                  </a:lnTo>
                  <a:cubicBezTo>
                    <a:pt x="6459" y="1355"/>
                    <a:pt x="6459" y="693"/>
                    <a:pt x="5987" y="693"/>
                  </a:cubicBezTo>
                  <a:lnTo>
                    <a:pt x="5073" y="693"/>
                  </a:lnTo>
                  <a:lnTo>
                    <a:pt x="49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86825" lIns="586825" spcFirstLastPara="1" rIns="586825" wrap="square" tIns="5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86"/>
                <a:buFont typeface="Arial"/>
                <a:buNone/>
              </a:pPr>
              <a:r>
                <a:t/>
              </a:r>
              <a:endParaRPr b="0" i="0" sz="9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-958300" y="40141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86825" lIns="586825" spcFirstLastPara="1" rIns="586825" wrap="square" tIns="5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86"/>
                <a:buFont typeface="Arial"/>
                <a:buNone/>
              </a:pPr>
              <a:r>
                <a:t/>
              </a:r>
              <a:endParaRPr b="0" i="0" sz="9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-1180400" y="3962900"/>
              <a:ext cx="292225" cy="188275"/>
            </a:xfrm>
            <a:custGeom>
              <a:rect b="b" l="l" r="r" t="t"/>
              <a:pathLst>
                <a:path extrusionOk="0" h="7531" w="11689">
                  <a:moveTo>
                    <a:pt x="9232" y="1324"/>
                  </a:moveTo>
                  <a:cubicBezTo>
                    <a:pt x="9799" y="1324"/>
                    <a:pt x="10271" y="1797"/>
                    <a:pt x="10271" y="2364"/>
                  </a:cubicBezTo>
                  <a:cubicBezTo>
                    <a:pt x="10271" y="2922"/>
                    <a:pt x="9822" y="3391"/>
                    <a:pt x="9247" y="3391"/>
                  </a:cubicBezTo>
                  <a:cubicBezTo>
                    <a:pt x="9140" y="3391"/>
                    <a:pt x="9029" y="3375"/>
                    <a:pt x="8916" y="3341"/>
                  </a:cubicBezTo>
                  <a:lnTo>
                    <a:pt x="8034" y="4538"/>
                  </a:lnTo>
                  <a:cubicBezTo>
                    <a:pt x="8507" y="5199"/>
                    <a:pt x="7971" y="6144"/>
                    <a:pt x="7152" y="6144"/>
                  </a:cubicBezTo>
                  <a:cubicBezTo>
                    <a:pt x="6491" y="6144"/>
                    <a:pt x="5987" y="5514"/>
                    <a:pt x="6176" y="4790"/>
                  </a:cubicBezTo>
                  <a:lnTo>
                    <a:pt x="4978" y="3908"/>
                  </a:lnTo>
                  <a:cubicBezTo>
                    <a:pt x="4839" y="4007"/>
                    <a:pt x="4661" y="4069"/>
                    <a:pt x="4470" y="4069"/>
                  </a:cubicBezTo>
                  <a:cubicBezTo>
                    <a:pt x="4359" y="4069"/>
                    <a:pt x="4243" y="4048"/>
                    <a:pt x="4128" y="4002"/>
                  </a:cubicBezTo>
                  <a:lnTo>
                    <a:pt x="3214" y="5199"/>
                  </a:lnTo>
                  <a:cubicBezTo>
                    <a:pt x="3340" y="5357"/>
                    <a:pt x="3372" y="5546"/>
                    <a:pt x="3372" y="5735"/>
                  </a:cubicBezTo>
                  <a:cubicBezTo>
                    <a:pt x="3372" y="6302"/>
                    <a:pt x="2899" y="6775"/>
                    <a:pt x="2363" y="6775"/>
                  </a:cubicBezTo>
                  <a:cubicBezTo>
                    <a:pt x="1796" y="6775"/>
                    <a:pt x="1324" y="6302"/>
                    <a:pt x="1324" y="5735"/>
                  </a:cubicBezTo>
                  <a:cubicBezTo>
                    <a:pt x="1324" y="5199"/>
                    <a:pt x="1796" y="4727"/>
                    <a:pt x="2363" y="4727"/>
                  </a:cubicBezTo>
                  <a:cubicBezTo>
                    <a:pt x="2489" y="4727"/>
                    <a:pt x="2552" y="4758"/>
                    <a:pt x="2678" y="4758"/>
                  </a:cubicBezTo>
                  <a:lnTo>
                    <a:pt x="3592" y="3593"/>
                  </a:lnTo>
                  <a:cubicBezTo>
                    <a:pt x="3120" y="2899"/>
                    <a:pt x="3624" y="1954"/>
                    <a:pt x="4443" y="1954"/>
                  </a:cubicBezTo>
                  <a:cubicBezTo>
                    <a:pt x="5104" y="1954"/>
                    <a:pt x="5640" y="2584"/>
                    <a:pt x="5419" y="3309"/>
                  </a:cubicBezTo>
                  <a:lnTo>
                    <a:pt x="6617" y="4223"/>
                  </a:lnTo>
                  <a:cubicBezTo>
                    <a:pt x="6766" y="4116"/>
                    <a:pt x="6959" y="4038"/>
                    <a:pt x="7165" y="4038"/>
                  </a:cubicBezTo>
                  <a:cubicBezTo>
                    <a:pt x="7264" y="4038"/>
                    <a:pt x="7365" y="4056"/>
                    <a:pt x="7467" y="4097"/>
                  </a:cubicBezTo>
                  <a:lnTo>
                    <a:pt x="8381" y="2899"/>
                  </a:lnTo>
                  <a:cubicBezTo>
                    <a:pt x="8255" y="2742"/>
                    <a:pt x="8223" y="2553"/>
                    <a:pt x="8223" y="2364"/>
                  </a:cubicBezTo>
                  <a:cubicBezTo>
                    <a:pt x="8223" y="1797"/>
                    <a:pt x="8696" y="1324"/>
                    <a:pt x="9232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4"/>
                    <a:pt x="1" y="1009"/>
                  </a:cubicBezTo>
                  <a:lnTo>
                    <a:pt x="1" y="7531"/>
                  </a:lnTo>
                  <a:lnTo>
                    <a:pt x="11689" y="7531"/>
                  </a:lnTo>
                  <a:lnTo>
                    <a:pt x="11689" y="1009"/>
                  </a:lnTo>
                  <a:cubicBezTo>
                    <a:pt x="11657" y="411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86825" lIns="586825" spcFirstLastPara="1" rIns="586825" wrap="square" tIns="5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986"/>
                <a:buFont typeface="Arial"/>
                <a:buNone/>
              </a:pPr>
              <a:r>
                <a:t/>
              </a:r>
              <a:endParaRPr b="0" i="0" sz="9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2717800" y="411475"/>
            <a:ext cx="2819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Tujuan Analisis</a:t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445800" y="1150875"/>
            <a:ext cx="8252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Mengidentifikasi tanggal dengan penjualan tertinggi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Menganalisis pola penjualan berdasarkan waktu (harian &amp; bulanan)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Mengetahui performa produk dan kategori utama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Memahami perilaku pembelian pelanggan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Memberikan insight untuk meningkatkan strategi penjualan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2" name="Google Shape;62;p2"/>
          <p:cNvGrpSpPr/>
          <p:nvPr/>
        </p:nvGrpSpPr>
        <p:grpSpPr>
          <a:xfrm>
            <a:off x="5537199" y="411464"/>
            <a:ext cx="565514" cy="561606"/>
            <a:chOff x="-63250675" y="3744075"/>
            <a:chExt cx="320350" cy="318100"/>
          </a:xfrm>
        </p:grpSpPr>
        <p:sp>
          <p:nvSpPr>
            <p:cNvPr id="63" name="Google Shape;63;p2"/>
            <p:cNvSpPr/>
            <p:nvPr/>
          </p:nvSpPr>
          <p:spPr>
            <a:xfrm>
              <a:off x="-63126250" y="3744075"/>
              <a:ext cx="195925" cy="192875"/>
            </a:xfrm>
            <a:custGeom>
              <a:rect b="b" l="l" r="r" t="t"/>
              <a:pathLst>
                <a:path extrusionOk="0" h="7715" w="7837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475" lIns="139475" spcFirstLastPara="1" rIns="139475" wrap="square" tIns="13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6"/>
                <a:buFont typeface="Arial"/>
                <a:buNone/>
              </a:pPr>
              <a:r>
                <a:t/>
              </a:r>
              <a:endParaRPr b="0" i="0" sz="213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63190025" y="381405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475" lIns="139475" spcFirstLastPara="1" rIns="139475" wrap="square" tIns="13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6"/>
                <a:buFont typeface="Arial"/>
                <a:buNone/>
              </a:pPr>
              <a:r>
                <a:t/>
              </a:r>
              <a:endParaRPr b="0" i="0" sz="213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63250675" y="3751050"/>
              <a:ext cx="311125" cy="311125"/>
            </a:xfrm>
            <a:custGeom>
              <a:rect b="b" l="l" r="r" t="t"/>
              <a:pathLst>
                <a:path extrusionOk="0" h="12445" w="12445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475" lIns="139475" spcFirstLastPara="1" rIns="139475" wrap="square" tIns="13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6"/>
                <a:buFont typeface="Arial"/>
                <a:buNone/>
              </a:pPr>
              <a:r>
                <a:t/>
              </a:r>
              <a:endParaRPr b="0" i="0" sz="213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f2712b5b6_0_2"/>
          <p:cNvSpPr txBox="1"/>
          <p:nvPr>
            <p:ph type="title"/>
          </p:nvPr>
        </p:nvSpPr>
        <p:spPr>
          <a:xfrm>
            <a:off x="2912525" y="411475"/>
            <a:ext cx="2635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Overview Data</a:t>
            </a:r>
            <a:endParaRPr/>
          </a:p>
        </p:txBody>
      </p:sp>
      <p:sp>
        <p:nvSpPr>
          <p:cNvPr id="71" name="Google Shape;71;g3bf2712b5b6_0_2"/>
          <p:cNvSpPr txBox="1"/>
          <p:nvPr/>
        </p:nvSpPr>
        <p:spPr>
          <a:xfrm>
            <a:off x="445800" y="1125475"/>
            <a:ext cx="8252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Sumber data: Data transaksi dan performa produk (Shopee)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Periode data: Januari 2025 – Januari 2026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Total data transaksi: 6.744 baris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Total data produk (SKU): 11.307 baris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telah melalui proses cleaning dan preprocessing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2" name="Google Shape;72;g3bf2712b5b6_0_2"/>
          <p:cNvGrpSpPr/>
          <p:nvPr/>
        </p:nvGrpSpPr>
        <p:grpSpPr>
          <a:xfrm>
            <a:off x="5547713" y="411483"/>
            <a:ext cx="560228" cy="561593"/>
            <a:chOff x="-3771675" y="3971775"/>
            <a:chExt cx="291300" cy="292025"/>
          </a:xfrm>
        </p:grpSpPr>
        <p:sp>
          <p:nvSpPr>
            <p:cNvPr id="73" name="Google Shape;73;g3bf2712b5b6_0_2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0"/>
                <a:buFont typeface="Arial"/>
                <a:buNone/>
              </a:pPr>
              <a:r>
                <a:t/>
              </a:r>
              <a:endParaRPr b="0" i="0" sz="18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3bf2712b5b6_0_2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0"/>
                <a:buFont typeface="Arial"/>
                <a:buNone/>
              </a:pPr>
              <a:r>
                <a:t/>
              </a:r>
              <a:endParaRPr b="0" i="0" sz="18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3bf2712b5b6_0_2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0"/>
                <a:buFont typeface="Arial"/>
                <a:buNone/>
              </a:pPr>
              <a:r>
                <a:t/>
              </a:r>
              <a:endParaRPr b="0" i="0" sz="18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3bf2712b5b6_0_2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0"/>
                <a:buFont typeface="Arial"/>
                <a:buNone/>
              </a:pPr>
              <a:r>
                <a:t/>
              </a:r>
              <a:endParaRPr b="0" i="0" sz="18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bf2712b5b6_0_2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0"/>
                <a:buFont typeface="Arial"/>
                <a:buNone/>
              </a:pPr>
              <a:r>
                <a:t/>
              </a:r>
              <a:endParaRPr b="0" i="0" sz="18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f2712b5b6_0_28"/>
          <p:cNvSpPr txBox="1"/>
          <p:nvPr>
            <p:ph type="title"/>
          </p:nvPr>
        </p:nvSpPr>
        <p:spPr>
          <a:xfrm>
            <a:off x="153700" y="416250"/>
            <a:ext cx="7933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Ringkasan Performa Penjualan 2025 – Jan 2026</a:t>
            </a:r>
            <a:endParaRPr/>
          </a:p>
        </p:txBody>
      </p:sp>
      <p:sp>
        <p:nvSpPr>
          <p:cNvPr id="83" name="Google Shape;83;g3bf2712b5b6_0_28"/>
          <p:cNvSpPr txBox="1"/>
          <p:nvPr/>
        </p:nvSpPr>
        <p:spPr>
          <a:xfrm>
            <a:off x="445800" y="2336675"/>
            <a:ext cx="82524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Total pendapatan mencapai </a:t>
            </a: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Rp 661</a:t>
            </a: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,34 juta selama periode analisis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Terdapat 5.664 transaksi yang berhasil diproses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Total produk terjual sebanyak 9.054 unit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Rata-rata setiap transaksi membeli lebih dari 1 produk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" name="Google Shape;84;g3bf2712b5b6_0_28"/>
          <p:cNvSpPr/>
          <p:nvPr/>
        </p:nvSpPr>
        <p:spPr>
          <a:xfrm>
            <a:off x="8087498" y="416245"/>
            <a:ext cx="547209" cy="561613"/>
          </a:xfrm>
          <a:custGeom>
            <a:rect b="b" l="l" r="r" t="t"/>
            <a:pathLst>
              <a:path extrusionOk="0" h="12634" w="12697">
                <a:moveTo>
                  <a:pt x="11437" y="819"/>
                </a:moveTo>
                <a:cubicBezTo>
                  <a:pt x="11657" y="819"/>
                  <a:pt x="11815" y="1040"/>
                  <a:pt x="11815" y="1260"/>
                </a:cubicBezTo>
                <a:cubicBezTo>
                  <a:pt x="11815" y="1512"/>
                  <a:pt x="11657" y="1670"/>
                  <a:pt x="11437" y="1670"/>
                </a:cubicBezTo>
                <a:lnTo>
                  <a:pt x="1229" y="1670"/>
                </a:lnTo>
                <a:cubicBezTo>
                  <a:pt x="1009" y="1670"/>
                  <a:pt x="788" y="1449"/>
                  <a:pt x="788" y="1260"/>
                </a:cubicBezTo>
                <a:cubicBezTo>
                  <a:pt x="788" y="1071"/>
                  <a:pt x="1009" y="819"/>
                  <a:pt x="1229" y="819"/>
                </a:cubicBezTo>
                <a:close/>
                <a:moveTo>
                  <a:pt x="8790" y="3277"/>
                </a:moveTo>
                <a:cubicBezTo>
                  <a:pt x="9042" y="3277"/>
                  <a:pt x="9200" y="3466"/>
                  <a:pt x="9200" y="3655"/>
                </a:cubicBezTo>
                <a:lnTo>
                  <a:pt x="9200" y="5356"/>
                </a:lnTo>
                <a:lnTo>
                  <a:pt x="9232" y="5356"/>
                </a:lnTo>
                <a:cubicBezTo>
                  <a:pt x="9232" y="5608"/>
                  <a:pt x="9042" y="5765"/>
                  <a:pt x="8822" y="5765"/>
                </a:cubicBezTo>
                <a:cubicBezTo>
                  <a:pt x="8633" y="5765"/>
                  <a:pt x="8412" y="5545"/>
                  <a:pt x="8412" y="5356"/>
                </a:cubicBezTo>
                <a:lnTo>
                  <a:pt x="8412" y="4694"/>
                </a:lnTo>
                <a:lnTo>
                  <a:pt x="6617" y="6459"/>
                </a:lnTo>
                <a:cubicBezTo>
                  <a:pt x="6538" y="6537"/>
                  <a:pt x="6435" y="6577"/>
                  <a:pt x="6333" y="6577"/>
                </a:cubicBezTo>
                <a:cubicBezTo>
                  <a:pt x="6231" y="6577"/>
                  <a:pt x="6128" y="6537"/>
                  <a:pt x="6050" y="6459"/>
                </a:cubicBezTo>
                <a:lnTo>
                  <a:pt x="5482" y="5923"/>
                </a:lnTo>
                <a:lnTo>
                  <a:pt x="4096" y="7278"/>
                </a:lnTo>
                <a:cubicBezTo>
                  <a:pt x="4033" y="7356"/>
                  <a:pt x="3931" y="7396"/>
                  <a:pt x="3824" y="7396"/>
                </a:cubicBezTo>
                <a:cubicBezTo>
                  <a:pt x="3718" y="7396"/>
                  <a:pt x="3608" y="7356"/>
                  <a:pt x="3529" y="7278"/>
                </a:cubicBezTo>
                <a:cubicBezTo>
                  <a:pt x="3372" y="7120"/>
                  <a:pt x="3372" y="6868"/>
                  <a:pt x="3529" y="6711"/>
                </a:cubicBezTo>
                <a:lnTo>
                  <a:pt x="5167" y="5041"/>
                </a:lnTo>
                <a:cubicBezTo>
                  <a:pt x="5246" y="4962"/>
                  <a:pt x="5356" y="4923"/>
                  <a:pt x="5467" y="4923"/>
                </a:cubicBezTo>
                <a:cubicBezTo>
                  <a:pt x="5577" y="4923"/>
                  <a:pt x="5687" y="4962"/>
                  <a:pt x="5766" y="5041"/>
                </a:cubicBezTo>
                <a:lnTo>
                  <a:pt x="6302" y="5608"/>
                </a:lnTo>
                <a:lnTo>
                  <a:pt x="7814" y="4096"/>
                </a:lnTo>
                <a:lnTo>
                  <a:pt x="7152" y="4096"/>
                </a:lnTo>
                <a:cubicBezTo>
                  <a:pt x="6900" y="4096"/>
                  <a:pt x="6743" y="3907"/>
                  <a:pt x="6743" y="3655"/>
                </a:cubicBezTo>
                <a:cubicBezTo>
                  <a:pt x="6743" y="3434"/>
                  <a:pt x="6932" y="3277"/>
                  <a:pt x="7152" y="3277"/>
                </a:cubicBezTo>
                <a:close/>
                <a:moveTo>
                  <a:pt x="6302" y="11058"/>
                </a:moveTo>
                <a:cubicBezTo>
                  <a:pt x="6554" y="11058"/>
                  <a:pt x="6743" y="11279"/>
                  <a:pt x="6743" y="11468"/>
                </a:cubicBezTo>
                <a:cubicBezTo>
                  <a:pt x="6743" y="11657"/>
                  <a:pt x="6554" y="11846"/>
                  <a:pt x="6302" y="11846"/>
                </a:cubicBezTo>
                <a:cubicBezTo>
                  <a:pt x="6081" y="11846"/>
                  <a:pt x="5924" y="11657"/>
                  <a:pt x="5924" y="11468"/>
                </a:cubicBezTo>
                <a:cubicBezTo>
                  <a:pt x="5924" y="11279"/>
                  <a:pt x="6113" y="11058"/>
                  <a:pt x="6302" y="11058"/>
                </a:cubicBezTo>
                <a:close/>
                <a:moveTo>
                  <a:pt x="1229" y="0"/>
                </a:moveTo>
                <a:cubicBezTo>
                  <a:pt x="568" y="0"/>
                  <a:pt x="1" y="536"/>
                  <a:pt x="1" y="1229"/>
                </a:cubicBezTo>
                <a:cubicBezTo>
                  <a:pt x="1" y="1764"/>
                  <a:pt x="379" y="2205"/>
                  <a:pt x="851" y="2394"/>
                </a:cubicBezTo>
                <a:lnTo>
                  <a:pt x="851" y="8254"/>
                </a:lnTo>
                <a:lnTo>
                  <a:pt x="442" y="8254"/>
                </a:lnTo>
                <a:cubicBezTo>
                  <a:pt x="221" y="8254"/>
                  <a:pt x="64" y="8475"/>
                  <a:pt x="64" y="8664"/>
                </a:cubicBezTo>
                <a:cubicBezTo>
                  <a:pt x="64" y="8916"/>
                  <a:pt x="253" y="9042"/>
                  <a:pt x="442" y="9042"/>
                </a:cubicBezTo>
                <a:lnTo>
                  <a:pt x="5955" y="9042"/>
                </a:lnTo>
                <a:lnTo>
                  <a:pt x="5955" y="10239"/>
                </a:lnTo>
                <a:cubicBezTo>
                  <a:pt x="5482" y="10397"/>
                  <a:pt x="5136" y="10869"/>
                  <a:pt x="5136" y="11405"/>
                </a:cubicBezTo>
                <a:cubicBezTo>
                  <a:pt x="5136" y="12098"/>
                  <a:pt x="5671" y="12633"/>
                  <a:pt x="6365" y="12633"/>
                </a:cubicBezTo>
                <a:cubicBezTo>
                  <a:pt x="7026" y="12633"/>
                  <a:pt x="7625" y="12098"/>
                  <a:pt x="7625" y="11405"/>
                </a:cubicBezTo>
                <a:cubicBezTo>
                  <a:pt x="7625" y="10869"/>
                  <a:pt x="7247" y="10428"/>
                  <a:pt x="6774" y="10239"/>
                </a:cubicBezTo>
                <a:lnTo>
                  <a:pt x="6774" y="9042"/>
                </a:lnTo>
                <a:lnTo>
                  <a:pt x="12288" y="9042"/>
                </a:lnTo>
                <a:cubicBezTo>
                  <a:pt x="12540" y="9042"/>
                  <a:pt x="12697" y="8853"/>
                  <a:pt x="12697" y="8664"/>
                </a:cubicBezTo>
                <a:cubicBezTo>
                  <a:pt x="12666" y="8443"/>
                  <a:pt x="12508" y="8254"/>
                  <a:pt x="12256" y="8254"/>
                </a:cubicBezTo>
                <a:lnTo>
                  <a:pt x="11815" y="8254"/>
                </a:lnTo>
                <a:lnTo>
                  <a:pt x="11815" y="2394"/>
                </a:lnTo>
                <a:cubicBezTo>
                  <a:pt x="12288" y="2237"/>
                  <a:pt x="12666" y="1764"/>
                  <a:pt x="12666" y="1229"/>
                </a:cubicBezTo>
                <a:cubicBezTo>
                  <a:pt x="12666" y="567"/>
                  <a:pt x="12098" y="0"/>
                  <a:pt x="1143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3bf2712b5b6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25" y="1138138"/>
            <a:ext cx="7400925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>
            <p:ph type="title"/>
          </p:nvPr>
        </p:nvSpPr>
        <p:spPr>
          <a:xfrm>
            <a:off x="715425" y="347975"/>
            <a:ext cx="7035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Pola Tanggal dengan Penjualan Tertinggi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1" name="Google Shape;91;p3" title="Cuplikan layar 2026-02-20 1705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3075"/>
            <a:ext cx="5222949" cy="41704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 txBox="1"/>
          <p:nvPr/>
        </p:nvSpPr>
        <p:spPr>
          <a:xfrm>
            <a:off x="5222950" y="973075"/>
            <a:ext cx="39210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Insight: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Mayoritas penjualan tertinggi terjadi di awal bulan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Kemungkinan dipengaruhi oleh siklus gajian / cashflow pelanggan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Terdapat sedikit anomali di akhir bulan (contoh: 25 September)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 ini kemungkinan dipengaruhi oleh </a:t>
            </a: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promosi</a:t>
            </a: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atau campaign khusus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7751323" y="347972"/>
            <a:ext cx="594092" cy="561597"/>
          </a:xfrm>
          <a:custGeom>
            <a:rect b="b" l="l" r="r" t="t"/>
            <a:pathLst>
              <a:path extrusionOk="0" h="12713" w="12792">
                <a:moveTo>
                  <a:pt x="8633" y="1229"/>
                </a:moveTo>
                <a:cubicBezTo>
                  <a:pt x="8854" y="1229"/>
                  <a:pt x="9011" y="1418"/>
                  <a:pt x="9011" y="1607"/>
                </a:cubicBezTo>
                <a:lnTo>
                  <a:pt x="9011" y="1890"/>
                </a:lnTo>
                <a:cubicBezTo>
                  <a:pt x="9484" y="2048"/>
                  <a:pt x="9831" y="2520"/>
                  <a:pt x="9831" y="3088"/>
                </a:cubicBezTo>
                <a:cubicBezTo>
                  <a:pt x="9831" y="3308"/>
                  <a:pt x="9641" y="3497"/>
                  <a:pt x="9452" y="3497"/>
                </a:cubicBezTo>
                <a:cubicBezTo>
                  <a:pt x="9200" y="3497"/>
                  <a:pt x="9011" y="3308"/>
                  <a:pt x="9011" y="3088"/>
                </a:cubicBezTo>
                <a:cubicBezTo>
                  <a:pt x="9011" y="2835"/>
                  <a:pt x="8822" y="2678"/>
                  <a:pt x="8633" y="2678"/>
                </a:cubicBezTo>
                <a:cubicBezTo>
                  <a:pt x="8413" y="2678"/>
                  <a:pt x="8192" y="2867"/>
                  <a:pt x="8192" y="3088"/>
                </a:cubicBezTo>
                <a:cubicBezTo>
                  <a:pt x="8224" y="3308"/>
                  <a:pt x="8570" y="3529"/>
                  <a:pt x="8885" y="3781"/>
                </a:cubicBezTo>
                <a:cubicBezTo>
                  <a:pt x="9326" y="4096"/>
                  <a:pt x="9894" y="4505"/>
                  <a:pt x="9894" y="5167"/>
                </a:cubicBezTo>
                <a:cubicBezTo>
                  <a:pt x="9894" y="5702"/>
                  <a:pt x="9515" y="6143"/>
                  <a:pt x="9043" y="6333"/>
                </a:cubicBezTo>
                <a:lnTo>
                  <a:pt x="9043" y="6616"/>
                </a:lnTo>
                <a:cubicBezTo>
                  <a:pt x="9043" y="6868"/>
                  <a:pt x="8854" y="7026"/>
                  <a:pt x="8665" y="7026"/>
                </a:cubicBezTo>
                <a:cubicBezTo>
                  <a:pt x="8476" y="7026"/>
                  <a:pt x="8224" y="6805"/>
                  <a:pt x="8224" y="6616"/>
                </a:cubicBezTo>
                <a:lnTo>
                  <a:pt x="8224" y="6333"/>
                </a:lnTo>
                <a:cubicBezTo>
                  <a:pt x="7751" y="6175"/>
                  <a:pt x="7405" y="5702"/>
                  <a:pt x="7405" y="5167"/>
                </a:cubicBezTo>
                <a:cubicBezTo>
                  <a:pt x="7405" y="4915"/>
                  <a:pt x="7594" y="4757"/>
                  <a:pt x="7783" y="4757"/>
                </a:cubicBezTo>
                <a:cubicBezTo>
                  <a:pt x="8003" y="4757"/>
                  <a:pt x="8192" y="4978"/>
                  <a:pt x="8192" y="5167"/>
                </a:cubicBezTo>
                <a:cubicBezTo>
                  <a:pt x="8192" y="5387"/>
                  <a:pt x="8381" y="5608"/>
                  <a:pt x="8633" y="5608"/>
                </a:cubicBezTo>
                <a:cubicBezTo>
                  <a:pt x="8854" y="5608"/>
                  <a:pt x="9011" y="5387"/>
                  <a:pt x="9011" y="5167"/>
                </a:cubicBezTo>
                <a:cubicBezTo>
                  <a:pt x="9011" y="4915"/>
                  <a:pt x="8696" y="4694"/>
                  <a:pt x="8350" y="4442"/>
                </a:cubicBezTo>
                <a:cubicBezTo>
                  <a:pt x="7909" y="4127"/>
                  <a:pt x="7373" y="3749"/>
                  <a:pt x="7373" y="3088"/>
                </a:cubicBezTo>
                <a:cubicBezTo>
                  <a:pt x="7373" y="2520"/>
                  <a:pt x="7720" y="2079"/>
                  <a:pt x="8192" y="1890"/>
                </a:cubicBezTo>
                <a:lnTo>
                  <a:pt x="8192" y="1607"/>
                </a:lnTo>
                <a:cubicBezTo>
                  <a:pt x="8192" y="1386"/>
                  <a:pt x="8381" y="1229"/>
                  <a:pt x="8633" y="1229"/>
                </a:cubicBezTo>
                <a:close/>
                <a:moveTo>
                  <a:pt x="6050" y="6616"/>
                </a:moveTo>
                <a:lnTo>
                  <a:pt x="5073" y="10239"/>
                </a:lnTo>
                <a:lnTo>
                  <a:pt x="4853" y="9388"/>
                </a:lnTo>
                <a:cubicBezTo>
                  <a:pt x="4793" y="9168"/>
                  <a:pt x="4617" y="9049"/>
                  <a:pt x="4433" y="9049"/>
                </a:cubicBezTo>
                <a:cubicBezTo>
                  <a:pt x="4328" y="9049"/>
                  <a:pt x="4220" y="9088"/>
                  <a:pt x="4128" y="9168"/>
                </a:cubicBezTo>
                <a:lnTo>
                  <a:pt x="1450" y="11846"/>
                </a:lnTo>
                <a:lnTo>
                  <a:pt x="852" y="11279"/>
                </a:lnTo>
                <a:lnTo>
                  <a:pt x="3530" y="8601"/>
                </a:lnTo>
                <a:cubicBezTo>
                  <a:pt x="3782" y="8349"/>
                  <a:pt x="3656" y="7939"/>
                  <a:pt x="3341" y="7876"/>
                </a:cubicBezTo>
                <a:lnTo>
                  <a:pt x="2490" y="7624"/>
                </a:lnTo>
                <a:lnTo>
                  <a:pt x="6050" y="6616"/>
                </a:lnTo>
                <a:close/>
                <a:moveTo>
                  <a:pt x="8665" y="0"/>
                </a:moveTo>
                <a:cubicBezTo>
                  <a:pt x="6365" y="0"/>
                  <a:pt x="4538" y="1859"/>
                  <a:pt x="4538" y="4127"/>
                </a:cubicBezTo>
                <a:cubicBezTo>
                  <a:pt x="4538" y="4852"/>
                  <a:pt x="4695" y="5513"/>
                  <a:pt x="5042" y="6112"/>
                </a:cubicBezTo>
                <a:lnTo>
                  <a:pt x="820" y="7341"/>
                </a:lnTo>
                <a:cubicBezTo>
                  <a:pt x="442" y="7435"/>
                  <a:pt x="442" y="8034"/>
                  <a:pt x="820" y="8128"/>
                </a:cubicBezTo>
                <a:lnTo>
                  <a:pt x="2490" y="8538"/>
                </a:lnTo>
                <a:lnTo>
                  <a:pt x="316" y="10712"/>
                </a:lnTo>
                <a:cubicBezTo>
                  <a:pt x="1" y="11027"/>
                  <a:pt x="1" y="11594"/>
                  <a:pt x="316" y="11909"/>
                </a:cubicBezTo>
                <a:lnTo>
                  <a:pt x="915" y="12476"/>
                </a:lnTo>
                <a:cubicBezTo>
                  <a:pt x="1072" y="12633"/>
                  <a:pt x="1285" y="12712"/>
                  <a:pt x="1497" y="12712"/>
                </a:cubicBezTo>
                <a:cubicBezTo>
                  <a:pt x="1710" y="12712"/>
                  <a:pt x="1923" y="12633"/>
                  <a:pt x="2080" y="12476"/>
                </a:cubicBezTo>
                <a:lnTo>
                  <a:pt x="4254" y="10334"/>
                </a:lnTo>
                <a:lnTo>
                  <a:pt x="4695" y="11972"/>
                </a:lnTo>
                <a:cubicBezTo>
                  <a:pt x="4759" y="12180"/>
                  <a:pt x="4930" y="12291"/>
                  <a:pt x="5098" y="12291"/>
                </a:cubicBezTo>
                <a:cubicBezTo>
                  <a:pt x="5261" y="12291"/>
                  <a:pt x="5421" y="12188"/>
                  <a:pt x="5483" y="11972"/>
                </a:cubicBezTo>
                <a:lnTo>
                  <a:pt x="6712" y="7750"/>
                </a:lnTo>
                <a:cubicBezTo>
                  <a:pt x="7279" y="8065"/>
                  <a:pt x="7972" y="8286"/>
                  <a:pt x="8665" y="8286"/>
                </a:cubicBezTo>
                <a:cubicBezTo>
                  <a:pt x="10965" y="8286"/>
                  <a:pt x="12792" y="6427"/>
                  <a:pt x="12792" y="4127"/>
                </a:cubicBezTo>
                <a:cubicBezTo>
                  <a:pt x="12760" y="1859"/>
                  <a:pt x="10902" y="0"/>
                  <a:pt x="86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f2712b5b6_0_22"/>
          <p:cNvSpPr txBox="1"/>
          <p:nvPr>
            <p:ph type="title"/>
          </p:nvPr>
        </p:nvSpPr>
        <p:spPr>
          <a:xfrm>
            <a:off x="2755950" y="297175"/>
            <a:ext cx="2717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Produk Terlaris</a:t>
            </a:r>
            <a:endParaRPr/>
          </a:p>
        </p:txBody>
      </p:sp>
      <p:sp>
        <p:nvSpPr>
          <p:cNvPr id="99" name="Google Shape;99;g3bf2712b5b6_0_22"/>
          <p:cNvSpPr txBox="1"/>
          <p:nvPr/>
        </p:nvSpPr>
        <p:spPr>
          <a:xfrm>
            <a:off x="5223000" y="858775"/>
            <a:ext cx="39210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Insight: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 dengan harga terjangkau cenderung lebih laku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 dengan fungsi sederhana &amp; kebutuhan tinggi lebih cepat terjual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 top memiliki gap penjualan yang cukup jauh dibanding produk lain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 non-utama (seperti jersey MTB) memiliki peminat yang lebih sedikit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0" name="Google Shape;100;g3bf2712b5b6_0_22" title="Cuplikan layar 2026-02-20 1719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9213"/>
            <a:ext cx="5159449" cy="4170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g3bf2712b5b6_0_22"/>
          <p:cNvGrpSpPr/>
          <p:nvPr/>
        </p:nvGrpSpPr>
        <p:grpSpPr>
          <a:xfrm>
            <a:off x="5473650" y="297185"/>
            <a:ext cx="562896" cy="561601"/>
            <a:chOff x="-62154300" y="3743950"/>
            <a:chExt cx="318200" cy="317450"/>
          </a:xfrm>
        </p:grpSpPr>
        <p:sp>
          <p:nvSpPr>
            <p:cNvPr id="102" name="Google Shape;102;g3bf2712b5b6_0_22"/>
            <p:cNvSpPr/>
            <p:nvPr/>
          </p:nvSpPr>
          <p:spPr>
            <a:xfrm>
              <a:off x="-61992850" y="3743950"/>
              <a:ext cx="63825" cy="69150"/>
            </a:xfrm>
            <a:custGeom>
              <a:rect b="b" l="l" r="r" t="t"/>
              <a:pathLst>
                <a:path extrusionOk="0" h="2766" w="2553">
                  <a:moveTo>
                    <a:pt x="1261" y="1"/>
                  </a:moveTo>
                  <a:cubicBezTo>
                    <a:pt x="1009" y="1"/>
                    <a:pt x="851" y="221"/>
                    <a:pt x="851" y="410"/>
                  </a:cubicBezTo>
                  <a:lnTo>
                    <a:pt x="851" y="1355"/>
                  </a:lnTo>
                  <a:lnTo>
                    <a:pt x="725" y="1229"/>
                  </a:lnTo>
                  <a:cubicBezTo>
                    <a:pt x="646" y="1151"/>
                    <a:pt x="544" y="1111"/>
                    <a:pt x="442" y="1111"/>
                  </a:cubicBezTo>
                  <a:cubicBezTo>
                    <a:pt x="339" y="1111"/>
                    <a:pt x="237" y="1151"/>
                    <a:pt x="158" y="1229"/>
                  </a:cubicBezTo>
                  <a:cubicBezTo>
                    <a:pt x="1" y="1387"/>
                    <a:pt x="1" y="1670"/>
                    <a:pt x="158" y="1828"/>
                  </a:cubicBezTo>
                  <a:lnTo>
                    <a:pt x="977" y="2647"/>
                  </a:lnTo>
                  <a:cubicBezTo>
                    <a:pt x="1056" y="2726"/>
                    <a:pt x="1166" y="2765"/>
                    <a:pt x="1277" y="2765"/>
                  </a:cubicBezTo>
                  <a:cubicBezTo>
                    <a:pt x="1387" y="2765"/>
                    <a:pt x="1497" y="2726"/>
                    <a:pt x="1576" y="2647"/>
                  </a:cubicBezTo>
                  <a:lnTo>
                    <a:pt x="2395" y="1828"/>
                  </a:lnTo>
                  <a:cubicBezTo>
                    <a:pt x="2553" y="1670"/>
                    <a:pt x="2553" y="1387"/>
                    <a:pt x="2395" y="1229"/>
                  </a:cubicBezTo>
                  <a:cubicBezTo>
                    <a:pt x="2316" y="1151"/>
                    <a:pt x="2206" y="1111"/>
                    <a:pt x="2096" y="1111"/>
                  </a:cubicBezTo>
                  <a:cubicBezTo>
                    <a:pt x="1985" y="1111"/>
                    <a:pt x="1875" y="1151"/>
                    <a:pt x="1796" y="1229"/>
                  </a:cubicBezTo>
                  <a:lnTo>
                    <a:pt x="1670" y="1355"/>
                  </a:lnTo>
                  <a:lnTo>
                    <a:pt x="1670" y="410"/>
                  </a:lnTo>
                  <a:cubicBezTo>
                    <a:pt x="1670" y="221"/>
                    <a:pt x="1481" y="1"/>
                    <a:pt x="1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800" lIns="139800" spcFirstLastPara="1" rIns="139800" wrap="square" tIns="13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41"/>
                <a:buFont typeface="Arial"/>
                <a:buNone/>
              </a:pPr>
              <a:r>
                <a:t/>
              </a:r>
              <a:endParaRPr b="0" i="0" sz="21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3bf2712b5b6_0_22"/>
            <p:cNvSpPr/>
            <p:nvPr/>
          </p:nvSpPr>
          <p:spPr>
            <a:xfrm>
              <a:off x="-62154300" y="3785700"/>
              <a:ext cx="318200" cy="275700"/>
            </a:xfrm>
            <a:custGeom>
              <a:rect b="b" l="l" r="r" t="t"/>
              <a:pathLst>
                <a:path extrusionOk="0" h="11028" w="12728">
                  <a:moveTo>
                    <a:pt x="5261" y="3560"/>
                  </a:moveTo>
                  <a:cubicBezTo>
                    <a:pt x="5513" y="3560"/>
                    <a:pt x="5671" y="3781"/>
                    <a:pt x="5671" y="4002"/>
                  </a:cubicBezTo>
                  <a:lnTo>
                    <a:pt x="5671" y="5671"/>
                  </a:lnTo>
                  <a:cubicBezTo>
                    <a:pt x="5671" y="5892"/>
                    <a:pt x="5450" y="6112"/>
                    <a:pt x="5261" y="6112"/>
                  </a:cubicBezTo>
                  <a:cubicBezTo>
                    <a:pt x="5072" y="6112"/>
                    <a:pt x="4820" y="5892"/>
                    <a:pt x="4820" y="5671"/>
                  </a:cubicBezTo>
                  <a:lnTo>
                    <a:pt x="4820" y="4002"/>
                  </a:lnTo>
                  <a:cubicBezTo>
                    <a:pt x="4820" y="3781"/>
                    <a:pt x="5041" y="3560"/>
                    <a:pt x="5261" y="3560"/>
                  </a:cubicBezTo>
                  <a:close/>
                  <a:moveTo>
                    <a:pt x="7719" y="3560"/>
                  </a:moveTo>
                  <a:cubicBezTo>
                    <a:pt x="7908" y="3560"/>
                    <a:pt x="8128" y="3781"/>
                    <a:pt x="8128" y="4002"/>
                  </a:cubicBezTo>
                  <a:lnTo>
                    <a:pt x="8128" y="5671"/>
                  </a:lnTo>
                  <a:cubicBezTo>
                    <a:pt x="8128" y="5892"/>
                    <a:pt x="7939" y="6112"/>
                    <a:pt x="7719" y="6112"/>
                  </a:cubicBezTo>
                  <a:cubicBezTo>
                    <a:pt x="7467" y="6112"/>
                    <a:pt x="7309" y="5892"/>
                    <a:pt x="7309" y="5671"/>
                  </a:cubicBezTo>
                  <a:lnTo>
                    <a:pt x="7309" y="4002"/>
                  </a:lnTo>
                  <a:cubicBezTo>
                    <a:pt x="7309" y="3781"/>
                    <a:pt x="7498" y="3560"/>
                    <a:pt x="7719" y="3560"/>
                  </a:cubicBezTo>
                  <a:close/>
                  <a:moveTo>
                    <a:pt x="10239" y="3560"/>
                  </a:moveTo>
                  <a:cubicBezTo>
                    <a:pt x="10460" y="3560"/>
                    <a:pt x="10617" y="3781"/>
                    <a:pt x="10617" y="4002"/>
                  </a:cubicBezTo>
                  <a:lnTo>
                    <a:pt x="10617" y="5671"/>
                  </a:lnTo>
                  <a:cubicBezTo>
                    <a:pt x="10617" y="5892"/>
                    <a:pt x="10428" y="6112"/>
                    <a:pt x="10239" y="6112"/>
                  </a:cubicBezTo>
                  <a:cubicBezTo>
                    <a:pt x="9987" y="6112"/>
                    <a:pt x="9798" y="5892"/>
                    <a:pt x="9798" y="5671"/>
                  </a:cubicBezTo>
                  <a:lnTo>
                    <a:pt x="9798" y="4002"/>
                  </a:lnTo>
                  <a:cubicBezTo>
                    <a:pt x="9798" y="3781"/>
                    <a:pt x="9987" y="3560"/>
                    <a:pt x="10239" y="3560"/>
                  </a:cubicBezTo>
                  <a:close/>
                  <a:moveTo>
                    <a:pt x="5230" y="9357"/>
                  </a:moveTo>
                  <a:cubicBezTo>
                    <a:pt x="5450" y="9357"/>
                    <a:pt x="5608" y="9578"/>
                    <a:pt x="5608" y="9767"/>
                  </a:cubicBezTo>
                  <a:cubicBezTo>
                    <a:pt x="5608" y="9987"/>
                    <a:pt x="5419" y="10208"/>
                    <a:pt x="5230" y="10208"/>
                  </a:cubicBezTo>
                  <a:cubicBezTo>
                    <a:pt x="5041" y="10208"/>
                    <a:pt x="4789" y="9987"/>
                    <a:pt x="4789" y="9767"/>
                  </a:cubicBezTo>
                  <a:cubicBezTo>
                    <a:pt x="4820" y="9578"/>
                    <a:pt x="5041" y="9357"/>
                    <a:pt x="5230" y="9357"/>
                  </a:cubicBezTo>
                  <a:close/>
                  <a:moveTo>
                    <a:pt x="9924" y="9357"/>
                  </a:moveTo>
                  <a:cubicBezTo>
                    <a:pt x="10145" y="9357"/>
                    <a:pt x="10302" y="9578"/>
                    <a:pt x="10302" y="9767"/>
                  </a:cubicBezTo>
                  <a:cubicBezTo>
                    <a:pt x="10302" y="9987"/>
                    <a:pt x="10113" y="10208"/>
                    <a:pt x="9924" y="10208"/>
                  </a:cubicBezTo>
                  <a:cubicBezTo>
                    <a:pt x="9704" y="10208"/>
                    <a:pt x="9515" y="9987"/>
                    <a:pt x="9515" y="9767"/>
                  </a:cubicBezTo>
                  <a:cubicBezTo>
                    <a:pt x="9515" y="9578"/>
                    <a:pt x="9704" y="9357"/>
                    <a:pt x="9924" y="9357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378"/>
                  </a:cubicBezTo>
                  <a:cubicBezTo>
                    <a:pt x="0" y="599"/>
                    <a:pt x="347" y="820"/>
                    <a:pt x="536" y="820"/>
                  </a:cubicBezTo>
                  <a:lnTo>
                    <a:pt x="2111" y="820"/>
                  </a:lnTo>
                  <a:cubicBezTo>
                    <a:pt x="2174" y="1103"/>
                    <a:pt x="3245" y="6711"/>
                    <a:pt x="3308" y="6994"/>
                  </a:cubicBezTo>
                  <a:cubicBezTo>
                    <a:pt x="2867" y="7184"/>
                    <a:pt x="2584" y="7625"/>
                    <a:pt x="2584" y="8097"/>
                  </a:cubicBezTo>
                  <a:cubicBezTo>
                    <a:pt x="2584" y="8759"/>
                    <a:pt x="3151" y="9326"/>
                    <a:pt x="3812" y="9326"/>
                  </a:cubicBezTo>
                  <a:lnTo>
                    <a:pt x="4001" y="9326"/>
                  </a:lnTo>
                  <a:cubicBezTo>
                    <a:pt x="3970" y="9452"/>
                    <a:pt x="3938" y="9609"/>
                    <a:pt x="3938" y="9767"/>
                  </a:cubicBezTo>
                  <a:cubicBezTo>
                    <a:pt x="3938" y="10429"/>
                    <a:pt x="4474" y="11027"/>
                    <a:pt x="5167" y="11027"/>
                  </a:cubicBezTo>
                  <a:cubicBezTo>
                    <a:pt x="5829" y="11027"/>
                    <a:pt x="6364" y="10460"/>
                    <a:pt x="6364" y="9767"/>
                  </a:cubicBezTo>
                  <a:cubicBezTo>
                    <a:pt x="6364" y="9609"/>
                    <a:pt x="6333" y="9483"/>
                    <a:pt x="6301" y="9326"/>
                  </a:cubicBezTo>
                  <a:lnTo>
                    <a:pt x="8664" y="9326"/>
                  </a:lnTo>
                  <a:cubicBezTo>
                    <a:pt x="8632" y="9452"/>
                    <a:pt x="8569" y="9609"/>
                    <a:pt x="8569" y="9767"/>
                  </a:cubicBezTo>
                  <a:cubicBezTo>
                    <a:pt x="8569" y="10429"/>
                    <a:pt x="9137" y="11027"/>
                    <a:pt x="9798" y="11027"/>
                  </a:cubicBezTo>
                  <a:cubicBezTo>
                    <a:pt x="10460" y="11027"/>
                    <a:pt x="11027" y="10460"/>
                    <a:pt x="11027" y="9767"/>
                  </a:cubicBezTo>
                  <a:cubicBezTo>
                    <a:pt x="11027" y="9609"/>
                    <a:pt x="10995" y="9483"/>
                    <a:pt x="10932" y="9357"/>
                  </a:cubicBezTo>
                  <a:lnTo>
                    <a:pt x="11562" y="9357"/>
                  </a:lnTo>
                  <a:cubicBezTo>
                    <a:pt x="11814" y="9357"/>
                    <a:pt x="12003" y="9168"/>
                    <a:pt x="12003" y="8979"/>
                  </a:cubicBezTo>
                  <a:cubicBezTo>
                    <a:pt x="12003" y="8727"/>
                    <a:pt x="11814" y="8538"/>
                    <a:pt x="11562" y="8538"/>
                  </a:cubicBezTo>
                  <a:lnTo>
                    <a:pt x="3749" y="8538"/>
                  </a:lnTo>
                  <a:cubicBezTo>
                    <a:pt x="3497" y="8538"/>
                    <a:pt x="3308" y="8349"/>
                    <a:pt x="3308" y="8160"/>
                  </a:cubicBezTo>
                  <a:cubicBezTo>
                    <a:pt x="3308" y="7940"/>
                    <a:pt x="3497" y="7719"/>
                    <a:pt x="3749" y="7719"/>
                  </a:cubicBezTo>
                  <a:lnTo>
                    <a:pt x="11468" y="7719"/>
                  </a:lnTo>
                  <a:cubicBezTo>
                    <a:pt x="11657" y="7719"/>
                    <a:pt x="11846" y="7562"/>
                    <a:pt x="11846" y="7373"/>
                  </a:cubicBezTo>
                  <a:lnTo>
                    <a:pt x="12665" y="2395"/>
                  </a:lnTo>
                  <a:cubicBezTo>
                    <a:pt x="12728" y="2143"/>
                    <a:pt x="12508" y="1922"/>
                    <a:pt x="12287" y="1922"/>
                  </a:cubicBezTo>
                  <a:lnTo>
                    <a:pt x="3056" y="1922"/>
                  </a:lnTo>
                  <a:lnTo>
                    <a:pt x="2741" y="347"/>
                  </a:lnTo>
                  <a:cubicBezTo>
                    <a:pt x="2710" y="158"/>
                    <a:pt x="2552" y="0"/>
                    <a:pt x="2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800" lIns="139800" spcFirstLastPara="1" rIns="139800" wrap="square" tIns="13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41"/>
                <a:buFont typeface="Arial"/>
                <a:buNone/>
              </a:pPr>
              <a:r>
                <a:t/>
              </a:r>
              <a:endParaRPr b="0" i="0" sz="21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f2712b5b6_0_43"/>
          <p:cNvSpPr txBox="1"/>
          <p:nvPr>
            <p:ph type="title"/>
          </p:nvPr>
        </p:nvSpPr>
        <p:spPr>
          <a:xfrm>
            <a:off x="1074850" y="322575"/>
            <a:ext cx="6231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Performa Kategori Produk per Bulan</a:t>
            </a:r>
            <a:endParaRPr/>
          </a:p>
        </p:txBody>
      </p:sp>
      <p:sp>
        <p:nvSpPr>
          <p:cNvPr id="109" name="Google Shape;109;g3bf2712b5b6_0_43"/>
          <p:cNvSpPr txBox="1"/>
          <p:nvPr/>
        </p:nvSpPr>
        <p:spPr>
          <a:xfrm>
            <a:off x="5223000" y="884175"/>
            <a:ext cx="3921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Insight: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Aksesoris mendominasi penjualan di sebagian besar bulan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Jersey menunjukkan peningkatan signifikan di akhir tahun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Terjadi penurunan penjualan pada Januari 2026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Aksesoris menjadi driver utama volume penjualan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 apparel (jersey &amp; topi) berperan sebagai pendukung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0" name="Google Shape;110;g3bf2712b5b6_0_43" title="Cuplikan layar 2026-02-20 1718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3075"/>
            <a:ext cx="5222999" cy="4170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g3bf2712b5b6_0_43"/>
          <p:cNvGrpSpPr/>
          <p:nvPr/>
        </p:nvGrpSpPr>
        <p:grpSpPr>
          <a:xfrm>
            <a:off x="7306739" y="322584"/>
            <a:ext cx="560154" cy="561601"/>
            <a:chOff x="-61354875" y="4101525"/>
            <a:chExt cx="316650" cy="317450"/>
          </a:xfrm>
        </p:grpSpPr>
        <p:sp>
          <p:nvSpPr>
            <p:cNvPr id="112" name="Google Shape;112;g3bf2712b5b6_0_43"/>
            <p:cNvSpPr/>
            <p:nvPr/>
          </p:nvSpPr>
          <p:spPr>
            <a:xfrm>
              <a:off x="-61172925" y="4240150"/>
              <a:ext cx="62225" cy="145750"/>
            </a:xfrm>
            <a:custGeom>
              <a:rect b="b" l="l" r="r" t="t"/>
              <a:pathLst>
                <a:path extrusionOk="0" h="5830" w="2489">
                  <a:moveTo>
                    <a:pt x="1260" y="1"/>
                  </a:moveTo>
                  <a:cubicBezTo>
                    <a:pt x="1071" y="1"/>
                    <a:pt x="819" y="221"/>
                    <a:pt x="819" y="442"/>
                  </a:cubicBezTo>
                  <a:lnTo>
                    <a:pt x="819" y="725"/>
                  </a:lnTo>
                  <a:cubicBezTo>
                    <a:pt x="347" y="883"/>
                    <a:pt x="0" y="1355"/>
                    <a:pt x="0" y="1891"/>
                  </a:cubicBezTo>
                  <a:cubicBezTo>
                    <a:pt x="0" y="2584"/>
                    <a:pt x="536" y="2962"/>
                    <a:pt x="977" y="3277"/>
                  </a:cubicBezTo>
                  <a:cubicBezTo>
                    <a:pt x="1292" y="3529"/>
                    <a:pt x="1639" y="3750"/>
                    <a:pt x="1639" y="4002"/>
                  </a:cubicBezTo>
                  <a:cubicBezTo>
                    <a:pt x="1639" y="4222"/>
                    <a:pt x="1450" y="4411"/>
                    <a:pt x="1260" y="4411"/>
                  </a:cubicBezTo>
                  <a:cubicBezTo>
                    <a:pt x="1008" y="4411"/>
                    <a:pt x="819" y="4222"/>
                    <a:pt x="819" y="4002"/>
                  </a:cubicBezTo>
                  <a:cubicBezTo>
                    <a:pt x="819" y="3750"/>
                    <a:pt x="630" y="3592"/>
                    <a:pt x="441" y="3592"/>
                  </a:cubicBezTo>
                  <a:cubicBezTo>
                    <a:pt x="221" y="3592"/>
                    <a:pt x="0" y="3781"/>
                    <a:pt x="0" y="4002"/>
                  </a:cubicBezTo>
                  <a:cubicBezTo>
                    <a:pt x="0" y="4537"/>
                    <a:pt x="347" y="4978"/>
                    <a:pt x="819" y="5167"/>
                  </a:cubicBezTo>
                  <a:lnTo>
                    <a:pt x="819" y="5451"/>
                  </a:lnTo>
                  <a:cubicBezTo>
                    <a:pt x="819" y="5672"/>
                    <a:pt x="1008" y="5829"/>
                    <a:pt x="1260" y="5829"/>
                  </a:cubicBezTo>
                  <a:cubicBezTo>
                    <a:pt x="1481" y="5829"/>
                    <a:pt x="1639" y="5640"/>
                    <a:pt x="1639" y="5451"/>
                  </a:cubicBezTo>
                  <a:lnTo>
                    <a:pt x="1639" y="5167"/>
                  </a:lnTo>
                  <a:cubicBezTo>
                    <a:pt x="2111" y="5010"/>
                    <a:pt x="2489" y="4537"/>
                    <a:pt x="2489" y="4002"/>
                  </a:cubicBezTo>
                  <a:cubicBezTo>
                    <a:pt x="2489" y="3309"/>
                    <a:pt x="1922" y="2931"/>
                    <a:pt x="1481" y="2616"/>
                  </a:cubicBezTo>
                  <a:cubicBezTo>
                    <a:pt x="1166" y="2364"/>
                    <a:pt x="819" y="2143"/>
                    <a:pt x="819" y="1891"/>
                  </a:cubicBezTo>
                  <a:cubicBezTo>
                    <a:pt x="819" y="1702"/>
                    <a:pt x="1008" y="1513"/>
                    <a:pt x="1260" y="1513"/>
                  </a:cubicBezTo>
                  <a:cubicBezTo>
                    <a:pt x="1513" y="1513"/>
                    <a:pt x="1639" y="1702"/>
                    <a:pt x="1639" y="1891"/>
                  </a:cubicBezTo>
                  <a:cubicBezTo>
                    <a:pt x="1639" y="2143"/>
                    <a:pt x="1859" y="2332"/>
                    <a:pt x="2048" y="2332"/>
                  </a:cubicBezTo>
                  <a:cubicBezTo>
                    <a:pt x="2300" y="2332"/>
                    <a:pt x="2489" y="2143"/>
                    <a:pt x="2489" y="1891"/>
                  </a:cubicBezTo>
                  <a:cubicBezTo>
                    <a:pt x="2489" y="1355"/>
                    <a:pt x="2143" y="914"/>
                    <a:pt x="1639" y="725"/>
                  </a:cubicBezTo>
                  <a:lnTo>
                    <a:pt x="1639" y="442"/>
                  </a:lnTo>
                  <a:cubicBezTo>
                    <a:pt x="1639" y="221"/>
                    <a:pt x="1450" y="1"/>
                    <a:pt x="1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775" lIns="139775" spcFirstLastPara="1" rIns="139775" wrap="square" tIns="139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41"/>
                <a:buFont typeface="Arial"/>
                <a:buNone/>
              </a:pPr>
              <a:r>
                <a:t/>
              </a:r>
              <a:endParaRPr b="0" i="0" sz="21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bf2712b5b6_0_43"/>
            <p:cNvSpPr/>
            <p:nvPr/>
          </p:nvSpPr>
          <p:spPr>
            <a:xfrm>
              <a:off x="-61354875" y="4101525"/>
              <a:ext cx="316650" cy="317450"/>
            </a:xfrm>
            <a:custGeom>
              <a:rect b="b" l="l" r="r" t="t"/>
              <a:pathLst>
                <a:path extrusionOk="0" h="12698" w="12666">
                  <a:moveTo>
                    <a:pt x="11405" y="1608"/>
                  </a:moveTo>
                  <a:cubicBezTo>
                    <a:pt x="11657" y="1608"/>
                    <a:pt x="11847" y="1797"/>
                    <a:pt x="11847" y="2049"/>
                  </a:cubicBezTo>
                  <a:lnTo>
                    <a:pt x="11847" y="3277"/>
                  </a:lnTo>
                  <a:lnTo>
                    <a:pt x="820" y="3277"/>
                  </a:lnTo>
                  <a:lnTo>
                    <a:pt x="820" y="2049"/>
                  </a:lnTo>
                  <a:cubicBezTo>
                    <a:pt x="820" y="1797"/>
                    <a:pt x="1009" y="1608"/>
                    <a:pt x="1198" y="1608"/>
                  </a:cubicBezTo>
                  <a:lnTo>
                    <a:pt x="1639" y="1608"/>
                  </a:lnTo>
                  <a:lnTo>
                    <a:pt x="1639" y="2049"/>
                  </a:lnTo>
                  <a:cubicBezTo>
                    <a:pt x="1639" y="2301"/>
                    <a:pt x="1828" y="2458"/>
                    <a:pt x="2048" y="2458"/>
                  </a:cubicBezTo>
                  <a:cubicBezTo>
                    <a:pt x="2237" y="2458"/>
                    <a:pt x="2427" y="2238"/>
                    <a:pt x="2427" y="2049"/>
                  </a:cubicBezTo>
                  <a:lnTo>
                    <a:pt x="2427" y="1608"/>
                  </a:lnTo>
                  <a:lnTo>
                    <a:pt x="5892" y="1608"/>
                  </a:lnTo>
                  <a:lnTo>
                    <a:pt x="5892" y="2049"/>
                  </a:lnTo>
                  <a:cubicBezTo>
                    <a:pt x="5892" y="2301"/>
                    <a:pt x="6081" y="2458"/>
                    <a:pt x="6333" y="2458"/>
                  </a:cubicBezTo>
                  <a:cubicBezTo>
                    <a:pt x="6585" y="2458"/>
                    <a:pt x="6743" y="2238"/>
                    <a:pt x="6743" y="2049"/>
                  </a:cubicBezTo>
                  <a:lnTo>
                    <a:pt x="6743" y="1608"/>
                  </a:lnTo>
                  <a:lnTo>
                    <a:pt x="10208" y="1608"/>
                  </a:lnTo>
                  <a:lnTo>
                    <a:pt x="10208" y="2049"/>
                  </a:lnTo>
                  <a:cubicBezTo>
                    <a:pt x="10208" y="2301"/>
                    <a:pt x="10397" y="2458"/>
                    <a:pt x="10618" y="2458"/>
                  </a:cubicBezTo>
                  <a:cubicBezTo>
                    <a:pt x="10870" y="2458"/>
                    <a:pt x="11027" y="2238"/>
                    <a:pt x="11027" y="2049"/>
                  </a:cubicBezTo>
                  <a:lnTo>
                    <a:pt x="11027" y="1608"/>
                  </a:lnTo>
                  <a:close/>
                  <a:moveTo>
                    <a:pt x="2868" y="4916"/>
                  </a:moveTo>
                  <a:cubicBezTo>
                    <a:pt x="3088" y="4916"/>
                    <a:pt x="3246" y="5136"/>
                    <a:pt x="3246" y="5357"/>
                  </a:cubicBezTo>
                  <a:cubicBezTo>
                    <a:pt x="3309" y="5546"/>
                    <a:pt x="3088" y="5766"/>
                    <a:pt x="2868" y="5766"/>
                  </a:cubicBezTo>
                  <a:lnTo>
                    <a:pt x="2048" y="5766"/>
                  </a:lnTo>
                  <a:cubicBezTo>
                    <a:pt x="1796" y="5766"/>
                    <a:pt x="1639" y="5546"/>
                    <a:pt x="1639" y="5357"/>
                  </a:cubicBezTo>
                  <a:cubicBezTo>
                    <a:pt x="1639" y="5136"/>
                    <a:pt x="1828" y="4916"/>
                    <a:pt x="2048" y="4916"/>
                  </a:cubicBezTo>
                  <a:close/>
                  <a:moveTo>
                    <a:pt x="2868" y="6585"/>
                  </a:moveTo>
                  <a:cubicBezTo>
                    <a:pt x="3088" y="6585"/>
                    <a:pt x="3246" y="6774"/>
                    <a:pt x="3246" y="6963"/>
                  </a:cubicBezTo>
                  <a:cubicBezTo>
                    <a:pt x="3309" y="7215"/>
                    <a:pt x="3088" y="7404"/>
                    <a:pt x="2868" y="7404"/>
                  </a:cubicBezTo>
                  <a:lnTo>
                    <a:pt x="2048" y="7404"/>
                  </a:lnTo>
                  <a:cubicBezTo>
                    <a:pt x="1796" y="7404"/>
                    <a:pt x="1639" y="7215"/>
                    <a:pt x="1639" y="6963"/>
                  </a:cubicBezTo>
                  <a:cubicBezTo>
                    <a:pt x="1639" y="6743"/>
                    <a:pt x="1828" y="6585"/>
                    <a:pt x="2048" y="6585"/>
                  </a:cubicBezTo>
                  <a:close/>
                  <a:moveTo>
                    <a:pt x="2868" y="8287"/>
                  </a:moveTo>
                  <a:cubicBezTo>
                    <a:pt x="3088" y="8287"/>
                    <a:pt x="3246" y="8476"/>
                    <a:pt x="3246" y="8665"/>
                  </a:cubicBezTo>
                  <a:cubicBezTo>
                    <a:pt x="3309" y="8854"/>
                    <a:pt x="3088" y="9074"/>
                    <a:pt x="2868" y="9074"/>
                  </a:cubicBezTo>
                  <a:lnTo>
                    <a:pt x="2048" y="9074"/>
                  </a:lnTo>
                  <a:cubicBezTo>
                    <a:pt x="1796" y="9074"/>
                    <a:pt x="1639" y="8854"/>
                    <a:pt x="1639" y="8665"/>
                  </a:cubicBezTo>
                  <a:cubicBezTo>
                    <a:pt x="1639" y="8413"/>
                    <a:pt x="1828" y="8287"/>
                    <a:pt x="2048" y="8287"/>
                  </a:cubicBezTo>
                  <a:close/>
                  <a:moveTo>
                    <a:pt x="8538" y="5199"/>
                  </a:moveTo>
                  <a:cubicBezTo>
                    <a:pt x="10366" y="5199"/>
                    <a:pt x="11847" y="6711"/>
                    <a:pt x="11847" y="8507"/>
                  </a:cubicBezTo>
                  <a:cubicBezTo>
                    <a:pt x="11847" y="10334"/>
                    <a:pt x="10334" y="11815"/>
                    <a:pt x="8538" y="11815"/>
                  </a:cubicBezTo>
                  <a:cubicBezTo>
                    <a:pt x="6711" y="11815"/>
                    <a:pt x="5230" y="10334"/>
                    <a:pt x="5230" y="8507"/>
                  </a:cubicBezTo>
                  <a:cubicBezTo>
                    <a:pt x="5230" y="6711"/>
                    <a:pt x="6743" y="5199"/>
                    <a:pt x="8538" y="5199"/>
                  </a:cubicBezTo>
                  <a:close/>
                  <a:moveTo>
                    <a:pt x="2048" y="1"/>
                  </a:moveTo>
                  <a:cubicBezTo>
                    <a:pt x="1828" y="1"/>
                    <a:pt x="1639" y="190"/>
                    <a:pt x="1639" y="410"/>
                  </a:cubicBezTo>
                  <a:lnTo>
                    <a:pt x="1639" y="788"/>
                  </a:lnTo>
                  <a:lnTo>
                    <a:pt x="1198" y="788"/>
                  </a:lnTo>
                  <a:cubicBezTo>
                    <a:pt x="536" y="788"/>
                    <a:pt x="1" y="1324"/>
                    <a:pt x="1" y="2049"/>
                  </a:cubicBezTo>
                  <a:lnTo>
                    <a:pt x="1" y="9767"/>
                  </a:lnTo>
                  <a:cubicBezTo>
                    <a:pt x="1" y="10429"/>
                    <a:pt x="536" y="11028"/>
                    <a:pt x="1198" y="11028"/>
                  </a:cubicBezTo>
                  <a:lnTo>
                    <a:pt x="5230" y="11028"/>
                  </a:lnTo>
                  <a:cubicBezTo>
                    <a:pt x="5987" y="12004"/>
                    <a:pt x="7184" y="12697"/>
                    <a:pt x="8538" y="12697"/>
                  </a:cubicBezTo>
                  <a:cubicBezTo>
                    <a:pt x="10807" y="12697"/>
                    <a:pt x="12666" y="10838"/>
                    <a:pt x="12666" y="8539"/>
                  </a:cubicBezTo>
                  <a:lnTo>
                    <a:pt x="12666" y="2080"/>
                  </a:lnTo>
                  <a:cubicBezTo>
                    <a:pt x="12666" y="1356"/>
                    <a:pt x="12130" y="788"/>
                    <a:pt x="11405" y="788"/>
                  </a:cubicBezTo>
                  <a:lnTo>
                    <a:pt x="11027" y="788"/>
                  </a:lnTo>
                  <a:lnTo>
                    <a:pt x="11027" y="410"/>
                  </a:lnTo>
                  <a:cubicBezTo>
                    <a:pt x="11027" y="158"/>
                    <a:pt x="10807" y="1"/>
                    <a:pt x="10618" y="1"/>
                  </a:cubicBezTo>
                  <a:cubicBezTo>
                    <a:pt x="10429" y="1"/>
                    <a:pt x="10177" y="190"/>
                    <a:pt x="10177" y="410"/>
                  </a:cubicBezTo>
                  <a:lnTo>
                    <a:pt x="10177" y="788"/>
                  </a:lnTo>
                  <a:lnTo>
                    <a:pt x="6711" y="788"/>
                  </a:lnTo>
                  <a:lnTo>
                    <a:pt x="6711" y="410"/>
                  </a:lnTo>
                  <a:cubicBezTo>
                    <a:pt x="6711" y="158"/>
                    <a:pt x="6522" y="1"/>
                    <a:pt x="6333" y="1"/>
                  </a:cubicBezTo>
                  <a:cubicBezTo>
                    <a:pt x="6144" y="1"/>
                    <a:pt x="5892" y="190"/>
                    <a:pt x="5892" y="410"/>
                  </a:cubicBezTo>
                  <a:lnTo>
                    <a:pt x="5892" y="788"/>
                  </a:lnTo>
                  <a:lnTo>
                    <a:pt x="2427" y="788"/>
                  </a:lnTo>
                  <a:lnTo>
                    <a:pt x="2427" y="410"/>
                  </a:lnTo>
                  <a:cubicBezTo>
                    <a:pt x="2427" y="158"/>
                    <a:pt x="2237" y="1"/>
                    <a:pt x="20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9775" lIns="139775" spcFirstLastPara="1" rIns="139775" wrap="square" tIns="139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41"/>
                <a:buFont typeface="Arial"/>
                <a:buNone/>
              </a:pPr>
              <a:r>
                <a:t/>
              </a:r>
              <a:endParaRPr b="0" i="0" sz="21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f2712b5b6_0_53"/>
          <p:cNvSpPr txBox="1"/>
          <p:nvPr>
            <p:ph type="title"/>
          </p:nvPr>
        </p:nvSpPr>
        <p:spPr>
          <a:xfrm>
            <a:off x="1176450" y="411475"/>
            <a:ext cx="5609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Pola Penjualan Berdasarkan Hari</a:t>
            </a:r>
            <a:endParaRPr/>
          </a:p>
        </p:txBody>
      </p:sp>
      <p:sp>
        <p:nvSpPr>
          <p:cNvPr id="119" name="Google Shape;119;g3bf2712b5b6_0_53"/>
          <p:cNvSpPr txBox="1"/>
          <p:nvPr/>
        </p:nvSpPr>
        <p:spPr>
          <a:xfrm>
            <a:off x="5223000" y="973075"/>
            <a:ext cx="3921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Insight: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Penjualan cenderung meningkat menjelang akhir pekan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Weekend &amp; pre-weekend adalah momentum utama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Terdapat penurunan aktivitas pembelian di pertengahan minggu (Rabu)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0" name="Google Shape;120;g3bf2712b5b6_0_53" title="Cuplikan layar 2026-02-20 1718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3075"/>
            <a:ext cx="5223001" cy="4170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g3bf2712b5b6_0_53"/>
          <p:cNvGrpSpPr/>
          <p:nvPr/>
        </p:nvGrpSpPr>
        <p:grpSpPr>
          <a:xfrm>
            <a:off x="6710957" y="411486"/>
            <a:ext cx="563135" cy="561588"/>
            <a:chOff x="-34005425" y="3945575"/>
            <a:chExt cx="293025" cy="292250"/>
          </a:xfrm>
        </p:grpSpPr>
        <p:sp>
          <p:nvSpPr>
            <p:cNvPr id="122" name="Google Shape;122;g3bf2712b5b6_0_53"/>
            <p:cNvSpPr/>
            <p:nvPr/>
          </p:nvSpPr>
          <p:spPr>
            <a:xfrm>
              <a:off x="-33952650" y="3998350"/>
              <a:ext cx="186700" cy="186700"/>
            </a:xfrm>
            <a:custGeom>
              <a:rect b="b" l="l" r="r" t="t"/>
              <a:pathLst>
                <a:path extrusionOk="0" h="7468" w="7468">
                  <a:moveTo>
                    <a:pt x="5861" y="2017"/>
                  </a:moveTo>
                  <a:cubicBezTo>
                    <a:pt x="6050" y="2017"/>
                    <a:pt x="6207" y="2143"/>
                    <a:pt x="6207" y="2364"/>
                  </a:cubicBezTo>
                  <a:lnTo>
                    <a:pt x="6207" y="3750"/>
                  </a:lnTo>
                  <a:lnTo>
                    <a:pt x="6207" y="5104"/>
                  </a:lnTo>
                  <a:cubicBezTo>
                    <a:pt x="6207" y="5325"/>
                    <a:pt x="6050" y="5451"/>
                    <a:pt x="5861" y="5451"/>
                  </a:cubicBezTo>
                  <a:cubicBezTo>
                    <a:pt x="5672" y="5451"/>
                    <a:pt x="5514" y="5325"/>
                    <a:pt x="5514" y="5104"/>
                  </a:cubicBezTo>
                  <a:lnTo>
                    <a:pt x="5514" y="4096"/>
                  </a:lnTo>
                  <a:lnTo>
                    <a:pt x="4474" y="4096"/>
                  </a:lnTo>
                  <a:cubicBezTo>
                    <a:pt x="4285" y="4096"/>
                    <a:pt x="4128" y="3939"/>
                    <a:pt x="4128" y="3750"/>
                  </a:cubicBezTo>
                  <a:lnTo>
                    <a:pt x="4128" y="2364"/>
                  </a:lnTo>
                  <a:cubicBezTo>
                    <a:pt x="4128" y="2143"/>
                    <a:pt x="4285" y="2017"/>
                    <a:pt x="4474" y="2017"/>
                  </a:cubicBezTo>
                  <a:cubicBezTo>
                    <a:pt x="4695" y="2017"/>
                    <a:pt x="4852" y="2143"/>
                    <a:pt x="4852" y="2364"/>
                  </a:cubicBezTo>
                  <a:lnTo>
                    <a:pt x="4852" y="3372"/>
                  </a:lnTo>
                  <a:lnTo>
                    <a:pt x="5514" y="3372"/>
                  </a:lnTo>
                  <a:lnTo>
                    <a:pt x="5514" y="2364"/>
                  </a:lnTo>
                  <a:cubicBezTo>
                    <a:pt x="5514" y="2143"/>
                    <a:pt x="5672" y="2017"/>
                    <a:pt x="5861" y="2017"/>
                  </a:cubicBezTo>
                  <a:close/>
                  <a:moveTo>
                    <a:pt x="2332" y="2017"/>
                  </a:moveTo>
                  <a:cubicBezTo>
                    <a:pt x="2868" y="2017"/>
                    <a:pt x="3340" y="2490"/>
                    <a:pt x="3340" y="3025"/>
                  </a:cubicBezTo>
                  <a:lnTo>
                    <a:pt x="3340" y="3309"/>
                  </a:lnTo>
                  <a:lnTo>
                    <a:pt x="3435" y="3309"/>
                  </a:lnTo>
                  <a:cubicBezTo>
                    <a:pt x="3435" y="3687"/>
                    <a:pt x="3183" y="4065"/>
                    <a:pt x="2868" y="4222"/>
                  </a:cubicBezTo>
                  <a:lnTo>
                    <a:pt x="2238" y="4537"/>
                  </a:lnTo>
                  <a:cubicBezTo>
                    <a:pt x="2175" y="4569"/>
                    <a:pt x="2080" y="4632"/>
                    <a:pt x="2049" y="4758"/>
                  </a:cubicBezTo>
                  <a:lnTo>
                    <a:pt x="3057" y="4758"/>
                  </a:lnTo>
                  <a:cubicBezTo>
                    <a:pt x="3277" y="4758"/>
                    <a:pt x="3435" y="4915"/>
                    <a:pt x="3435" y="5104"/>
                  </a:cubicBezTo>
                  <a:cubicBezTo>
                    <a:pt x="3435" y="5325"/>
                    <a:pt x="3277" y="5483"/>
                    <a:pt x="3057" y="5483"/>
                  </a:cubicBezTo>
                  <a:lnTo>
                    <a:pt x="1702" y="5483"/>
                  </a:lnTo>
                  <a:cubicBezTo>
                    <a:pt x="1481" y="5483"/>
                    <a:pt x="1324" y="5325"/>
                    <a:pt x="1324" y="5104"/>
                  </a:cubicBezTo>
                  <a:lnTo>
                    <a:pt x="1324" y="4852"/>
                  </a:lnTo>
                  <a:cubicBezTo>
                    <a:pt x="1324" y="4443"/>
                    <a:pt x="1576" y="4096"/>
                    <a:pt x="1891" y="3939"/>
                  </a:cubicBezTo>
                  <a:lnTo>
                    <a:pt x="2521" y="3624"/>
                  </a:lnTo>
                  <a:cubicBezTo>
                    <a:pt x="2647" y="3592"/>
                    <a:pt x="2710" y="3466"/>
                    <a:pt x="2710" y="3309"/>
                  </a:cubicBezTo>
                  <a:lnTo>
                    <a:pt x="2710" y="3025"/>
                  </a:lnTo>
                  <a:cubicBezTo>
                    <a:pt x="2710" y="2836"/>
                    <a:pt x="2553" y="2679"/>
                    <a:pt x="2364" y="2679"/>
                  </a:cubicBezTo>
                  <a:cubicBezTo>
                    <a:pt x="2175" y="2679"/>
                    <a:pt x="2017" y="2836"/>
                    <a:pt x="2017" y="3025"/>
                  </a:cubicBezTo>
                  <a:cubicBezTo>
                    <a:pt x="2017" y="3214"/>
                    <a:pt x="1859" y="3372"/>
                    <a:pt x="1639" y="3372"/>
                  </a:cubicBezTo>
                  <a:cubicBezTo>
                    <a:pt x="1450" y="3372"/>
                    <a:pt x="1292" y="3214"/>
                    <a:pt x="1292" y="3025"/>
                  </a:cubicBezTo>
                  <a:cubicBezTo>
                    <a:pt x="1292" y="2490"/>
                    <a:pt x="1765" y="2017"/>
                    <a:pt x="2332" y="2017"/>
                  </a:cubicBezTo>
                  <a:close/>
                  <a:moveTo>
                    <a:pt x="3214" y="1"/>
                  </a:moveTo>
                  <a:cubicBezTo>
                    <a:pt x="3214" y="127"/>
                    <a:pt x="3183" y="284"/>
                    <a:pt x="3120" y="379"/>
                  </a:cubicBezTo>
                  <a:cubicBezTo>
                    <a:pt x="2962" y="662"/>
                    <a:pt x="2679" y="914"/>
                    <a:pt x="2364" y="946"/>
                  </a:cubicBezTo>
                  <a:lnTo>
                    <a:pt x="1009" y="1135"/>
                  </a:lnTo>
                  <a:cubicBezTo>
                    <a:pt x="473" y="1733"/>
                    <a:pt x="64" y="2521"/>
                    <a:pt x="1" y="3372"/>
                  </a:cubicBezTo>
                  <a:lnTo>
                    <a:pt x="316" y="3372"/>
                  </a:lnTo>
                  <a:cubicBezTo>
                    <a:pt x="505" y="3372"/>
                    <a:pt x="662" y="3529"/>
                    <a:pt x="662" y="3750"/>
                  </a:cubicBezTo>
                  <a:cubicBezTo>
                    <a:pt x="662" y="3939"/>
                    <a:pt x="505" y="4096"/>
                    <a:pt x="316" y="4096"/>
                  </a:cubicBezTo>
                  <a:lnTo>
                    <a:pt x="1" y="4096"/>
                  </a:lnTo>
                  <a:cubicBezTo>
                    <a:pt x="158" y="5892"/>
                    <a:pt x="1607" y="7310"/>
                    <a:pt x="3372" y="7467"/>
                  </a:cubicBezTo>
                  <a:lnTo>
                    <a:pt x="3372" y="7121"/>
                  </a:lnTo>
                  <a:cubicBezTo>
                    <a:pt x="3372" y="6932"/>
                    <a:pt x="3529" y="6774"/>
                    <a:pt x="3750" y="6774"/>
                  </a:cubicBezTo>
                  <a:cubicBezTo>
                    <a:pt x="3939" y="6774"/>
                    <a:pt x="4096" y="6932"/>
                    <a:pt x="4096" y="7121"/>
                  </a:cubicBezTo>
                  <a:lnTo>
                    <a:pt x="4096" y="7436"/>
                  </a:lnTo>
                  <a:lnTo>
                    <a:pt x="4254" y="7436"/>
                  </a:lnTo>
                  <a:cubicBezTo>
                    <a:pt x="4254" y="7373"/>
                    <a:pt x="4285" y="7278"/>
                    <a:pt x="4317" y="7215"/>
                  </a:cubicBezTo>
                  <a:cubicBezTo>
                    <a:pt x="4443" y="6900"/>
                    <a:pt x="4758" y="6648"/>
                    <a:pt x="5073" y="6617"/>
                  </a:cubicBezTo>
                  <a:lnTo>
                    <a:pt x="6491" y="6333"/>
                  </a:lnTo>
                  <a:cubicBezTo>
                    <a:pt x="7089" y="5703"/>
                    <a:pt x="7404" y="5010"/>
                    <a:pt x="7467" y="4096"/>
                  </a:cubicBezTo>
                  <a:lnTo>
                    <a:pt x="7152" y="4096"/>
                  </a:lnTo>
                  <a:cubicBezTo>
                    <a:pt x="6963" y="4096"/>
                    <a:pt x="6806" y="3939"/>
                    <a:pt x="6806" y="3750"/>
                  </a:cubicBezTo>
                  <a:cubicBezTo>
                    <a:pt x="6806" y="3529"/>
                    <a:pt x="6963" y="3372"/>
                    <a:pt x="7152" y="3372"/>
                  </a:cubicBezTo>
                  <a:lnTo>
                    <a:pt x="7467" y="3372"/>
                  </a:lnTo>
                  <a:cubicBezTo>
                    <a:pt x="7310" y="1576"/>
                    <a:pt x="5861" y="158"/>
                    <a:pt x="4096" y="1"/>
                  </a:cubicBezTo>
                  <a:lnTo>
                    <a:pt x="4096" y="316"/>
                  </a:lnTo>
                  <a:cubicBezTo>
                    <a:pt x="4096" y="505"/>
                    <a:pt x="3939" y="662"/>
                    <a:pt x="3750" y="662"/>
                  </a:cubicBezTo>
                  <a:cubicBezTo>
                    <a:pt x="3529" y="662"/>
                    <a:pt x="3372" y="505"/>
                    <a:pt x="3372" y="316"/>
                  </a:cubicBezTo>
                  <a:lnTo>
                    <a:pt x="33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4800" lIns="144800" spcFirstLastPara="1" rIns="144800" wrap="square" tIns="14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17"/>
                <a:buFont typeface="Arial"/>
                <a:buNone/>
              </a:pPr>
              <a:r>
                <a:t/>
              </a:r>
              <a:endParaRPr b="0" i="0" sz="2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bf2712b5b6_0_53"/>
            <p:cNvSpPr/>
            <p:nvPr/>
          </p:nvSpPr>
          <p:spPr>
            <a:xfrm>
              <a:off x="-33944775" y="3945575"/>
              <a:ext cx="232375" cy="247350"/>
            </a:xfrm>
            <a:custGeom>
              <a:rect b="b" l="l" r="r" t="t"/>
              <a:pathLst>
                <a:path extrusionOk="0" h="9894" w="9295">
                  <a:moveTo>
                    <a:pt x="3466" y="1"/>
                  </a:moveTo>
                  <a:cubicBezTo>
                    <a:pt x="2490" y="1"/>
                    <a:pt x="1450" y="316"/>
                    <a:pt x="1103" y="536"/>
                  </a:cubicBezTo>
                  <a:lnTo>
                    <a:pt x="1040" y="410"/>
                  </a:lnTo>
                  <a:cubicBezTo>
                    <a:pt x="970" y="340"/>
                    <a:pt x="881" y="304"/>
                    <a:pt x="788" y="304"/>
                  </a:cubicBezTo>
                  <a:cubicBezTo>
                    <a:pt x="757" y="304"/>
                    <a:pt x="725" y="308"/>
                    <a:pt x="694" y="316"/>
                  </a:cubicBezTo>
                  <a:cubicBezTo>
                    <a:pt x="599" y="379"/>
                    <a:pt x="505" y="473"/>
                    <a:pt x="473" y="568"/>
                  </a:cubicBezTo>
                  <a:cubicBezTo>
                    <a:pt x="347" y="1041"/>
                    <a:pt x="442" y="726"/>
                    <a:pt x="32" y="2143"/>
                  </a:cubicBezTo>
                  <a:cubicBezTo>
                    <a:pt x="1" y="2269"/>
                    <a:pt x="32" y="2395"/>
                    <a:pt x="127" y="2458"/>
                  </a:cubicBezTo>
                  <a:cubicBezTo>
                    <a:pt x="253" y="2584"/>
                    <a:pt x="316" y="2584"/>
                    <a:pt x="473" y="2584"/>
                  </a:cubicBezTo>
                  <a:lnTo>
                    <a:pt x="2049" y="2332"/>
                  </a:lnTo>
                  <a:cubicBezTo>
                    <a:pt x="2238" y="2301"/>
                    <a:pt x="2395" y="2080"/>
                    <a:pt x="2332" y="1860"/>
                  </a:cubicBezTo>
                  <a:lnTo>
                    <a:pt x="2206" y="1545"/>
                  </a:lnTo>
                  <a:cubicBezTo>
                    <a:pt x="2647" y="1450"/>
                    <a:pt x="3057" y="1356"/>
                    <a:pt x="3529" y="1356"/>
                  </a:cubicBezTo>
                  <a:cubicBezTo>
                    <a:pt x="5987" y="1356"/>
                    <a:pt x="8003" y="3372"/>
                    <a:pt x="8003" y="5798"/>
                  </a:cubicBezTo>
                  <a:cubicBezTo>
                    <a:pt x="8003" y="6806"/>
                    <a:pt x="7688" y="7657"/>
                    <a:pt x="7152" y="8413"/>
                  </a:cubicBezTo>
                  <a:cubicBezTo>
                    <a:pt x="7278" y="8444"/>
                    <a:pt x="7404" y="8539"/>
                    <a:pt x="7530" y="8633"/>
                  </a:cubicBezTo>
                  <a:cubicBezTo>
                    <a:pt x="7751" y="8885"/>
                    <a:pt x="7845" y="9232"/>
                    <a:pt x="7751" y="9578"/>
                  </a:cubicBezTo>
                  <a:lnTo>
                    <a:pt x="7593" y="9893"/>
                  </a:lnTo>
                  <a:cubicBezTo>
                    <a:pt x="8633" y="8854"/>
                    <a:pt x="9295" y="7436"/>
                    <a:pt x="9295" y="5861"/>
                  </a:cubicBezTo>
                  <a:cubicBezTo>
                    <a:pt x="9295" y="2616"/>
                    <a:pt x="6648" y="1"/>
                    <a:pt x="3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4800" lIns="144800" spcFirstLastPara="1" rIns="144800" wrap="square" tIns="14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17"/>
                <a:buFont typeface="Arial"/>
                <a:buNone/>
              </a:pPr>
              <a:r>
                <a:t/>
              </a:r>
              <a:endParaRPr b="0" i="0" sz="2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bf2712b5b6_0_53"/>
            <p:cNvSpPr/>
            <p:nvPr/>
          </p:nvSpPr>
          <p:spPr>
            <a:xfrm>
              <a:off x="-34005425" y="3987325"/>
              <a:ext cx="237100" cy="250500"/>
            </a:xfrm>
            <a:custGeom>
              <a:rect b="b" l="l" r="r" t="t"/>
              <a:pathLst>
                <a:path extrusionOk="0" h="10020" w="9484">
                  <a:moveTo>
                    <a:pt x="1797" y="1"/>
                  </a:moveTo>
                  <a:lnTo>
                    <a:pt x="1797" y="1"/>
                  </a:lnTo>
                  <a:cubicBezTo>
                    <a:pt x="694" y="1072"/>
                    <a:pt x="1" y="2521"/>
                    <a:pt x="1" y="4191"/>
                  </a:cubicBezTo>
                  <a:cubicBezTo>
                    <a:pt x="64" y="7373"/>
                    <a:pt x="2647" y="10019"/>
                    <a:pt x="5892" y="10019"/>
                  </a:cubicBezTo>
                  <a:cubicBezTo>
                    <a:pt x="6239" y="10019"/>
                    <a:pt x="7972" y="9736"/>
                    <a:pt x="8224" y="9547"/>
                  </a:cubicBezTo>
                  <a:cubicBezTo>
                    <a:pt x="8255" y="9547"/>
                    <a:pt x="8287" y="9484"/>
                    <a:pt x="8350" y="9484"/>
                  </a:cubicBezTo>
                  <a:lnTo>
                    <a:pt x="8507" y="9641"/>
                  </a:lnTo>
                  <a:cubicBezTo>
                    <a:pt x="8576" y="9710"/>
                    <a:pt x="8661" y="9741"/>
                    <a:pt x="8743" y="9741"/>
                  </a:cubicBezTo>
                  <a:cubicBezTo>
                    <a:pt x="8887" y="9741"/>
                    <a:pt x="9023" y="9644"/>
                    <a:pt x="9043" y="9484"/>
                  </a:cubicBezTo>
                  <a:lnTo>
                    <a:pt x="9169" y="9011"/>
                  </a:lnTo>
                  <a:lnTo>
                    <a:pt x="9452" y="7814"/>
                  </a:lnTo>
                  <a:cubicBezTo>
                    <a:pt x="9484" y="7688"/>
                    <a:pt x="9452" y="7562"/>
                    <a:pt x="9358" y="7467"/>
                  </a:cubicBezTo>
                  <a:cubicBezTo>
                    <a:pt x="9278" y="7407"/>
                    <a:pt x="9211" y="7385"/>
                    <a:pt x="9132" y="7385"/>
                  </a:cubicBezTo>
                  <a:cubicBezTo>
                    <a:pt x="9087" y="7385"/>
                    <a:pt x="9037" y="7393"/>
                    <a:pt x="8980" y="7404"/>
                  </a:cubicBezTo>
                  <a:lnTo>
                    <a:pt x="7310" y="7719"/>
                  </a:lnTo>
                  <a:cubicBezTo>
                    <a:pt x="7089" y="7751"/>
                    <a:pt x="6963" y="8034"/>
                    <a:pt x="7089" y="8223"/>
                  </a:cubicBezTo>
                  <a:lnTo>
                    <a:pt x="7184" y="8444"/>
                  </a:lnTo>
                  <a:cubicBezTo>
                    <a:pt x="6774" y="8538"/>
                    <a:pt x="6333" y="8633"/>
                    <a:pt x="5861" y="8633"/>
                  </a:cubicBezTo>
                  <a:cubicBezTo>
                    <a:pt x="3403" y="8633"/>
                    <a:pt x="1419" y="6648"/>
                    <a:pt x="1419" y="4191"/>
                  </a:cubicBezTo>
                  <a:cubicBezTo>
                    <a:pt x="1419" y="3183"/>
                    <a:pt x="1734" y="2269"/>
                    <a:pt x="2269" y="1544"/>
                  </a:cubicBezTo>
                  <a:cubicBezTo>
                    <a:pt x="2143" y="1481"/>
                    <a:pt x="2049" y="1418"/>
                    <a:pt x="1954" y="1292"/>
                  </a:cubicBezTo>
                  <a:cubicBezTo>
                    <a:pt x="1734" y="1009"/>
                    <a:pt x="1639" y="662"/>
                    <a:pt x="1734" y="316"/>
                  </a:cubicBez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4800" lIns="144800" spcFirstLastPara="1" rIns="144800" wrap="square" tIns="14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17"/>
                <a:buFont typeface="Arial"/>
                <a:buNone/>
              </a:pPr>
              <a:r>
                <a:t/>
              </a:r>
              <a:endParaRPr b="0" i="0" sz="2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1722550" y="411475"/>
            <a:ext cx="4771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Kesimpulan &amp; Rekomendasi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914400" y="973075"/>
            <a:ext cx="73152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Kesimpulan: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Penjualan bersifat fluktuatif dengan puncak di periode tertentu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Aksesoris menjadi kontributor utama penjualan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Hari Jumat adalah waktu paling optimal untuk penjualan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914400" y="3127975"/>
            <a:ext cx="73152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Rekomendasi: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Fokus campaign di hari Jumat – Sabtu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Perbanyak stok produk aksesoris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Maksimalkan promo di periode high season (Mei – Oktober)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32" name="Google Shape;132;p4"/>
          <p:cNvGrpSpPr/>
          <p:nvPr/>
        </p:nvGrpSpPr>
        <p:grpSpPr>
          <a:xfrm>
            <a:off x="6494041" y="411477"/>
            <a:ext cx="572477" cy="561604"/>
            <a:chOff x="-1183550" y="3586525"/>
            <a:chExt cx="296175" cy="290550"/>
          </a:xfrm>
        </p:grpSpPr>
        <p:sp>
          <p:nvSpPr>
            <p:cNvPr id="133" name="Google Shape;133;p4"/>
            <p:cNvSpPr/>
            <p:nvPr/>
          </p:nvSpPr>
          <p:spPr>
            <a:xfrm>
              <a:off x="-927575" y="3671500"/>
              <a:ext cx="40200" cy="16575"/>
            </a:xfrm>
            <a:custGeom>
              <a:rect b="b" l="l" r="r" t="t"/>
              <a:pathLst>
                <a:path extrusionOk="0" h="663" w="1608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725" lIns="122725" spcFirstLastPara="1" rIns="122725" wrap="square" tIns="122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9"/>
                <a:buFont typeface="Arial"/>
                <a:buNone/>
              </a:pPr>
              <a:r>
                <a:t/>
              </a:r>
              <a:endParaRPr b="0" i="0" sz="18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-1183550" y="3671500"/>
              <a:ext cx="39400" cy="16575"/>
            </a:xfrm>
            <a:custGeom>
              <a:rect b="b" l="l" r="r" t="t"/>
              <a:pathLst>
                <a:path extrusionOk="0" h="663" w="1576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725" lIns="122725" spcFirstLastPara="1" rIns="122725" wrap="square" tIns="122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9"/>
                <a:buFont typeface="Arial"/>
                <a:buNone/>
              </a:pPr>
              <a:r>
                <a:t/>
              </a:r>
              <a:endParaRPr b="0" i="0" sz="18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-944250" y="3603025"/>
              <a:ext cx="39525" cy="26375"/>
            </a:xfrm>
            <a:custGeom>
              <a:rect b="b" l="l" r="r" t="t"/>
              <a:pathLst>
                <a:path extrusionOk="0" h="1055" w="1581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725" lIns="122725" spcFirstLastPara="1" rIns="122725" wrap="square" tIns="122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9"/>
                <a:buFont typeface="Arial"/>
                <a:buNone/>
              </a:pPr>
              <a:r>
                <a:t/>
              </a:r>
              <a:endParaRPr b="0" i="0" sz="18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-1166200" y="3731225"/>
              <a:ext cx="39700" cy="26075"/>
            </a:xfrm>
            <a:custGeom>
              <a:rect b="b" l="l" r="r" t="t"/>
              <a:pathLst>
                <a:path extrusionOk="0" h="1043" w="1588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725" lIns="122725" spcFirstLastPara="1" rIns="122725" wrap="square" tIns="122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9"/>
                <a:buFont typeface="Arial"/>
                <a:buNone/>
              </a:pPr>
              <a:r>
                <a:t/>
              </a:r>
              <a:endParaRPr b="0" i="0" sz="18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-944925" y="3730950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725" lIns="122725" spcFirstLastPara="1" rIns="122725" wrap="square" tIns="122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9"/>
                <a:buFont typeface="Arial"/>
                <a:buNone/>
              </a:pPr>
              <a:r>
                <a:t/>
              </a:r>
              <a:endParaRPr b="0" i="0" sz="18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-1167000" y="3603025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725" lIns="122725" spcFirstLastPara="1" rIns="122725" wrap="square" tIns="122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9"/>
                <a:buFont typeface="Arial"/>
                <a:buNone/>
              </a:pPr>
              <a:r>
                <a:t/>
              </a:r>
              <a:endParaRPr b="0" i="0" sz="18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-1065400" y="3658900"/>
              <a:ext cx="59875" cy="77200"/>
            </a:xfrm>
            <a:custGeom>
              <a:rect b="b" l="l" r="r" t="t"/>
              <a:pathLst>
                <a:path extrusionOk="0" h="3088" w="2395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725" lIns="122725" spcFirstLastPara="1" rIns="122725" wrap="square" tIns="122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9"/>
                <a:buFont typeface="Arial"/>
                <a:buNone/>
              </a:pPr>
              <a:r>
                <a:t/>
              </a:r>
              <a:endParaRPr b="0" i="0" sz="18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-1078000" y="3809325"/>
              <a:ext cx="85075" cy="67750"/>
            </a:xfrm>
            <a:custGeom>
              <a:rect b="b" l="l" r="r" t="t"/>
              <a:pathLst>
                <a:path extrusionOk="0" h="2710" w="3403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725" lIns="122725" spcFirstLastPara="1" rIns="122725" wrap="square" tIns="122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9"/>
                <a:buFont typeface="Arial"/>
                <a:buNone/>
              </a:pPr>
              <a:r>
                <a:t/>
              </a:r>
              <a:endParaRPr b="0" i="0" sz="18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-1135500" y="3586525"/>
              <a:ext cx="193775" cy="204700"/>
            </a:xfrm>
            <a:custGeom>
              <a:rect b="b" l="l" r="r" t="t"/>
              <a:pathLst>
                <a:path extrusionOk="0" h="8188" w="7751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725" lIns="122725" spcFirstLastPara="1" rIns="122725" wrap="square" tIns="122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9"/>
                <a:buFont typeface="Arial"/>
                <a:buNone/>
              </a:pPr>
              <a:r>
                <a:t/>
              </a:r>
              <a:endParaRPr b="0" i="0" sz="18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rcular Diagram Infographics by Slidesgo">
  <a:themeElements>
    <a:clrScheme name="Simple Light">
      <a:dk1>
        <a:srgbClr val="000000"/>
      </a:dk1>
      <a:lt1>
        <a:srgbClr val="FFFFFF"/>
      </a:lt1>
      <a:dk2>
        <a:srgbClr val="39A4DA"/>
      </a:dk2>
      <a:lt2>
        <a:srgbClr val="44C4E1"/>
      </a:lt2>
      <a:accent1>
        <a:srgbClr val="C1E5DB"/>
      </a:accent1>
      <a:accent2>
        <a:srgbClr val="FAF2CB"/>
      </a:accent2>
      <a:accent3>
        <a:srgbClr val="FFC952"/>
      </a:accent3>
      <a:accent4>
        <a:srgbClr val="FF7072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