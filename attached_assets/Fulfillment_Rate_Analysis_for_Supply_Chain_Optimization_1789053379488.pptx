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6858000" cy="9144000"/>
  <p:embeddedFontLst>
    <p:embeddedFont>
      <p:font typeface="Montserrat SemiBold"/>
      <p:regular r:id="rId12"/>
      <p:bold r:id="rId13"/>
      <p:italic r:id="rId14"/>
      <p:boldItalic r:id="rId15"/>
    </p:embeddedFont>
    <p:embeddedFont>
      <p:font typeface="Montserrat"/>
      <p:regular r:id="rId16"/>
      <p:bold r:id="rId17"/>
      <p:italic r:id="rId18"/>
      <p:boldItalic r:id="rId19"/>
    </p:embeddedFont>
    <p:embeddedFont>
      <p:font typeface="Montserrat Medium"/>
      <p:regular r:id="rId20"/>
      <p:bold r:id="rId21"/>
      <p:italic r:id="rId22"/>
      <p:boldItalic r:id="rId23"/>
    </p:embeddedFont>
    <p:embeddedFont>
      <p:font typeface="Montserrat Light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gAmjbHdCUISgwCAAVM2f76hRJE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Medium-regular.fntdata"/><Relationship Id="rId22" Type="http://schemas.openxmlformats.org/officeDocument/2006/relationships/font" Target="fonts/MontserratMedium-italic.fntdata"/><Relationship Id="rId21" Type="http://schemas.openxmlformats.org/officeDocument/2006/relationships/font" Target="fonts/MontserratMedium-bold.fntdata"/><Relationship Id="rId24" Type="http://schemas.openxmlformats.org/officeDocument/2006/relationships/font" Target="fonts/MontserratLight-regular.fntdata"/><Relationship Id="rId23" Type="http://schemas.openxmlformats.org/officeDocument/2006/relationships/font" Target="fonts/MontserratMedium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MontserratLight-italic.fntdata"/><Relationship Id="rId25" Type="http://schemas.openxmlformats.org/officeDocument/2006/relationships/font" Target="fonts/MontserratLight-bold.fntdata"/><Relationship Id="rId28" Type="http://customschemas.google.com/relationships/presentationmetadata" Target="metadata"/><Relationship Id="rId27" Type="http://schemas.openxmlformats.org/officeDocument/2006/relationships/font" Target="fonts/MontserratLight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MontserratSemiBold-bold.fntdata"/><Relationship Id="rId12" Type="http://schemas.openxmlformats.org/officeDocument/2006/relationships/font" Target="fonts/MontserratSemiBold-regular.fntdata"/><Relationship Id="rId15" Type="http://schemas.openxmlformats.org/officeDocument/2006/relationships/font" Target="fonts/MontserratSemiBold-boldItalic.fntdata"/><Relationship Id="rId14" Type="http://schemas.openxmlformats.org/officeDocument/2006/relationships/font" Target="fonts/MontserratSemiBold-italic.fntdata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19" Type="http://schemas.openxmlformats.org/officeDocument/2006/relationships/font" Target="fonts/Montserrat-boldItalic.fntdata"/><Relationship Id="rId18" Type="http://schemas.openxmlformats.org/officeDocument/2006/relationships/font" Target="fonts/Montserrat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75ab9f6773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g375ab9f677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75ab9f6773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g375ab9f6773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6"/>
          <p:cNvSpPr txBox="1"/>
          <p:nvPr>
            <p:ph type="ctrTitle"/>
          </p:nvPr>
        </p:nvSpPr>
        <p:spPr>
          <a:xfrm>
            <a:off x="457200" y="1224892"/>
            <a:ext cx="44874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16"/>
          <p:cNvSpPr txBox="1"/>
          <p:nvPr>
            <p:ph idx="1" type="subTitle"/>
          </p:nvPr>
        </p:nvSpPr>
        <p:spPr>
          <a:xfrm>
            <a:off x="457200" y="3487508"/>
            <a:ext cx="4487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accent6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74067a836c_0_13"/>
          <p:cNvSpPr txBox="1"/>
          <p:nvPr>
            <p:ph type="title"/>
          </p:nvPr>
        </p:nvSpPr>
        <p:spPr>
          <a:xfrm>
            <a:off x="1048350" y="3238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0"/>
          <p:cNvSpPr txBox="1"/>
          <p:nvPr>
            <p:ph type="title"/>
          </p:nvPr>
        </p:nvSpPr>
        <p:spPr>
          <a:xfrm>
            <a:off x="720000" y="2179625"/>
            <a:ext cx="77040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20"/>
          <p:cNvSpPr txBox="1"/>
          <p:nvPr>
            <p:ph idx="2" type="title"/>
          </p:nvPr>
        </p:nvSpPr>
        <p:spPr>
          <a:xfrm>
            <a:off x="2996550" y="1337825"/>
            <a:ext cx="31509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9" name="Google Shape;19;p20"/>
          <p:cNvSpPr txBox="1"/>
          <p:nvPr>
            <p:ph idx="1" type="subTitle"/>
          </p:nvPr>
        </p:nvSpPr>
        <p:spPr>
          <a:xfrm>
            <a:off x="2391925" y="3132175"/>
            <a:ext cx="43602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1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" name="Google Shape;22;p21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 txBox="1"/>
          <p:nvPr>
            <p:ph idx="1" type="subTitle"/>
          </p:nvPr>
        </p:nvSpPr>
        <p:spPr>
          <a:xfrm>
            <a:off x="1181425" y="2303125"/>
            <a:ext cx="29076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5" name="Google Shape;25;p22"/>
          <p:cNvSpPr txBox="1"/>
          <p:nvPr>
            <p:ph idx="2" type="subTitle"/>
          </p:nvPr>
        </p:nvSpPr>
        <p:spPr>
          <a:xfrm>
            <a:off x="4836300" y="2303125"/>
            <a:ext cx="29076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6" name="Google Shape;26;p22"/>
          <p:cNvSpPr txBox="1"/>
          <p:nvPr>
            <p:ph idx="3" type="subTitle"/>
          </p:nvPr>
        </p:nvSpPr>
        <p:spPr>
          <a:xfrm>
            <a:off x="1181425" y="2917150"/>
            <a:ext cx="29076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" name="Google Shape;27;p22"/>
          <p:cNvSpPr txBox="1"/>
          <p:nvPr>
            <p:ph idx="4" type="subTitle"/>
          </p:nvPr>
        </p:nvSpPr>
        <p:spPr>
          <a:xfrm>
            <a:off x="4836300" y="2917150"/>
            <a:ext cx="29076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" name="Google Shape;28;p22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 txBox="1"/>
          <p:nvPr>
            <p:ph idx="1" type="body"/>
          </p:nvPr>
        </p:nvSpPr>
        <p:spPr>
          <a:xfrm>
            <a:off x="720000" y="1152475"/>
            <a:ext cx="3322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4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5"/>
          <p:cNvSpPr txBox="1"/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6" name="Google Shape;36;p25"/>
          <p:cNvSpPr txBox="1"/>
          <p:nvPr>
            <p:ph idx="1" type="subTitle"/>
          </p:nvPr>
        </p:nvSpPr>
        <p:spPr>
          <a:xfrm>
            <a:off x="2241550" y="1348750"/>
            <a:ext cx="4661100" cy="16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6"/>
          <p:cNvSpPr txBox="1"/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7"/>
          <p:cNvSpPr txBox="1"/>
          <p:nvPr>
            <p:ph hasCustomPrompt="1" type="title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1" name="Google Shape;41;p27"/>
          <p:cNvSpPr txBox="1"/>
          <p:nvPr>
            <p:ph idx="1" type="subTitle"/>
          </p:nvPr>
        </p:nvSpPr>
        <p:spPr>
          <a:xfrm>
            <a:off x="1284000" y="3069625"/>
            <a:ext cx="65760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715100" y="1096600"/>
            <a:ext cx="7713600" cy="35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b="0" i="0" sz="12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b="0" i="0" sz="12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b="0" i="0" sz="12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b="0" i="0" sz="12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b="0" i="0" sz="12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b="0" i="0" sz="12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b="0" i="0" sz="12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b="0" i="0" sz="12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b="0" i="0" sz="12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kaggle.com/datasets/harshsingh2209/supply-chain-analysis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"/>
          <p:cNvSpPr txBox="1"/>
          <p:nvPr>
            <p:ph type="ctrTitle"/>
          </p:nvPr>
        </p:nvSpPr>
        <p:spPr>
          <a:xfrm>
            <a:off x="457200" y="96625"/>
            <a:ext cx="7323000" cy="330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Fulfillment Rate Analysis for Supply Chain Optimization</a:t>
            </a:r>
            <a:endParaRPr/>
          </a:p>
        </p:txBody>
      </p:sp>
      <p:sp>
        <p:nvSpPr>
          <p:cNvPr id="47" name="Google Shape;47;p1"/>
          <p:cNvSpPr txBox="1"/>
          <p:nvPr>
            <p:ph idx="1" type="subTitle"/>
          </p:nvPr>
        </p:nvSpPr>
        <p:spPr>
          <a:xfrm>
            <a:off x="457200" y="3487500"/>
            <a:ext cx="6884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2400">
                <a:latin typeface="Montserrat SemiBold"/>
                <a:ea typeface="Montserrat SemiBold"/>
                <a:cs typeface="Montserrat SemiBold"/>
                <a:sym typeface="Montserrat SemiBold"/>
              </a:rPr>
              <a:t>Identifying potential drivers behind low fulfillment performance</a:t>
            </a:r>
            <a:endParaRPr sz="24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8" name="Google Shape;48;p1"/>
          <p:cNvSpPr txBox="1"/>
          <p:nvPr>
            <p:ph idx="1" type="subTitle"/>
          </p:nvPr>
        </p:nvSpPr>
        <p:spPr>
          <a:xfrm>
            <a:off x="457200" y="4404575"/>
            <a:ext cx="2414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By Ahsan Mubarak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Business Context &amp; Objective</a:t>
            </a:r>
            <a:endParaRPr/>
          </a:p>
        </p:txBody>
      </p:sp>
      <p:pic>
        <p:nvPicPr>
          <p:cNvPr id="54" name="Google Shape;5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4400" y="1727159"/>
            <a:ext cx="2130825" cy="1098016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2"/>
          <p:cNvSpPr txBox="1"/>
          <p:nvPr/>
        </p:nvSpPr>
        <p:spPr>
          <a:xfrm>
            <a:off x="219900" y="854025"/>
            <a:ext cx="8704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Business Context</a:t>
            </a:r>
            <a:endParaRPr b="1"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Fulfillment Rate is one of the key operational and efficiency KPIs in supply chain management. It measures how successfully a company fulfills customer orders.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6" name="Google Shape;56;p2"/>
          <p:cNvSpPr txBox="1"/>
          <p:nvPr/>
        </p:nvSpPr>
        <p:spPr>
          <a:xfrm>
            <a:off x="219900" y="1777415"/>
            <a:ext cx="58074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 this project, the company's fulfillment rate is </a:t>
            </a:r>
            <a:r>
              <a:rPr b="1"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73.65%</a:t>
            </a: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which is likely considered low based on industry benchmarks.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7" name="Google Shape;57;p2"/>
          <p:cNvSpPr txBox="1"/>
          <p:nvPr/>
        </p:nvSpPr>
        <p:spPr>
          <a:xfrm>
            <a:off x="219900" y="2774925"/>
            <a:ext cx="82983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Common causes of low fulfillment include low utilization rates, stock issues, shipping delays, and long lead times.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Objective                                                                                                                     </a:t>
            </a: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This analysis aims to identify the most likely contributing factors based on the available data.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219900" y="4111650"/>
            <a:ext cx="76821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Disclaimer: Fulfillment Rate in this analysis is calculated using the Availability column as a proxy for actual shipped items, since detailed shipping data is not available.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Dataset Overview</a:t>
            </a:r>
            <a:endParaRPr/>
          </a:p>
        </p:txBody>
      </p:sp>
      <p:sp>
        <p:nvSpPr>
          <p:cNvPr id="64" name="Google Shape;64;p3"/>
          <p:cNvSpPr txBox="1"/>
          <p:nvPr/>
        </p:nvSpPr>
        <p:spPr>
          <a:xfrm>
            <a:off x="219900" y="973075"/>
            <a:ext cx="8704200" cy="3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Dataset: Supply Chain Data 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Source: </a:t>
            </a:r>
            <a:r>
              <a:rPr lang="en" sz="1600">
                <a:solidFill>
                  <a:srgbClr val="9AA0A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" sz="1600" u="sng">
                <a:solidFill>
                  <a:srgbClr val="008ABC"/>
                </a:solidFill>
                <a:latin typeface="Montserrat Medium"/>
                <a:ea typeface="Montserrat Medium"/>
                <a:cs typeface="Montserrat Medium"/>
                <a:sym typeface="Montserrat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Kaggle - Supply Chain Data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Supply chain analytics plays a crucial role in data-driven decision-making across industries such as manufacturing, retail, healthcare, and logistics.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This dataset includes: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Order quantities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Stock levels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Availability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Lead time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Shipping time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"/>
          <p:cNvSpPr txBox="1"/>
          <p:nvPr>
            <p:ph type="title"/>
          </p:nvPr>
        </p:nvSpPr>
        <p:spPr>
          <a:xfrm>
            <a:off x="150" y="411475"/>
            <a:ext cx="91440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No Clear Relationship Between Lead Time and Fulfillment</a:t>
            </a:r>
            <a:endParaRPr sz="2000"/>
          </a:p>
        </p:txBody>
      </p:sp>
      <p:pic>
        <p:nvPicPr>
          <p:cNvPr id="70" name="Google Shape;70;p5" title="Cuplikan layar 2025-08-04 20032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550" y="1308663"/>
            <a:ext cx="4679474" cy="252617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5"/>
          <p:cNvSpPr txBox="1"/>
          <p:nvPr/>
        </p:nvSpPr>
        <p:spPr>
          <a:xfrm>
            <a:off x="5132025" y="973075"/>
            <a:ext cx="4011900" cy="38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Insight: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scatter plot shows no clear trend or direction.</a:t>
            </a:r>
            <a:b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Correlation between Fulfillment Rate and Lead Time is weak and statistically insignificant.</a:t>
            </a:r>
            <a:b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Indicates that lead time is unlikely to be a major factor affecting fulfillment.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75ab9f6773_0_25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High Stock Levels Don’t Ensure High Fulfillment</a:t>
            </a:r>
            <a:endParaRPr/>
          </a:p>
        </p:txBody>
      </p:sp>
      <p:sp>
        <p:nvSpPr>
          <p:cNvPr id="77" name="Google Shape;77;g375ab9f6773_0_25"/>
          <p:cNvSpPr txBox="1"/>
          <p:nvPr/>
        </p:nvSpPr>
        <p:spPr>
          <a:xfrm>
            <a:off x="5132025" y="973075"/>
            <a:ext cx="4011900" cy="44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Insight: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No strong pattern observed between stock levels and fulfillment rate.</a:t>
            </a:r>
            <a:b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Some high stock levels (80, 60, 59, 55) still result in low fulfillment rates.</a:t>
            </a:r>
            <a:b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Notably, stock level 36 has the lowest fulfillment rate (7.1%), and stock level 80 is also among the lowest (10.4%).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78" name="Google Shape;78;g375ab9f6773_0_25" title="Cuplikan layar 2025-08-04 2002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550" y="1343286"/>
            <a:ext cx="4679475" cy="276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75ab9f6773_0_34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Shipping Time Also Fails to Predict Fulfillment</a:t>
            </a:r>
            <a:endParaRPr/>
          </a:p>
        </p:txBody>
      </p:sp>
      <p:sp>
        <p:nvSpPr>
          <p:cNvPr id="84" name="Google Shape;84;g375ab9f6773_0_34"/>
          <p:cNvSpPr txBox="1"/>
          <p:nvPr/>
        </p:nvSpPr>
        <p:spPr>
          <a:xfrm>
            <a:off x="5094000" y="973075"/>
            <a:ext cx="4050000" cy="38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Insight: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As with lead time, there’s no strong correlation between shipping time and fulfillment.</a:t>
            </a:r>
            <a:b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Data points are scattered without a clear trend.</a:t>
            </a:r>
            <a:b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Indicates that shipping delays may not be the primary driver of low fulfillment.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85" name="Google Shape;85;g375ab9f6773_0_34" title="Cuplikan layar 2025-08-04 20034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302" y="1370473"/>
            <a:ext cx="4641363" cy="256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What We Know So Far</a:t>
            </a:r>
            <a:endParaRPr/>
          </a:p>
        </p:txBody>
      </p:sp>
      <p:sp>
        <p:nvSpPr>
          <p:cNvPr id="91" name="Google Shape;91;p7"/>
          <p:cNvSpPr txBox="1"/>
          <p:nvPr/>
        </p:nvSpPr>
        <p:spPr>
          <a:xfrm>
            <a:off x="422850" y="1182625"/>
            <a:ext cx="8298300" cy="41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8382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No strong relationship was found between fulfillment rate and stock levels, lead time, or shipping time.</a:t>
            </a:r>
            <a:b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0200" lvl="0" marL="838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Products with high stock still show poor fulfillment performance.</a:t>
            </a:r>
            <a:b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0200" lvl="0" marL="838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Lead time and shipping time show correlation values below 1%.</a:t>
            </a:r>
            <a:b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0200" lvl="0" marL="838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 likely cause could be low warehouse or order processing utilization, which couldn’t be tested due to data limitations.</a:t>
            </a:r>
            <a:b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Further investigation is needed to confirm this hypothesis and guide operational improvements.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ircular Diagram Infographics by Slidesgo">
  <a:themeElements>
    <a:clrScheme name="Simple Light">
      <a:dk1>
        <a:srgbClr val="000000"/>
      </a:dk1>
      <a:lt1>
        <a:srgbClr val="FFFFFF"/>
      </a:lt1>
      <a:dk2>
        <a:srgbClr val="39A4DA"/>
      </a:dk2>
      <a:lt2>
        <a:srgbClr val="44C4E1"/>
      </a:lt2>
      <a:accent1>
        <a:srgbClr val="C1E5DB"/>
      </a:accent1>
      <a:accent2>
        <a:srgbClr val="FAF2CB"/>
      </a:accent2>
      <a:accent3>
        <a:srgbClr val="FFC952"/>
      </a:accent3>
      <a:accent4>
        <a:srgbClr val="FF7072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